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by the end they read any NGS pipeline as one skeleton with swappable parts, and will have run both an alignment and an assembly pass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pain: students drown memorizing tool zoos. Reframe: tools are implementations of stages; stages are stable. This is the whole thesis of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once. Emphasize the fork at Core and that reproducibility is the box around everything, not a final step. This diagram returns every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 deliberately makes them take both forks: align+call on E. coli, assemble+identify on a phage.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= plumbing; junctions are file formats. Most pain is format-wrangling.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is the FIRST fork — it cascades into aligner, assembler, error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is the first fork in the road and it propagates the whole way downstream — it sets your aligner, your assembler, the error model the variant caller must assume, even your QC thresholds. Per-platform detail is on the next three spotlight slides; here, just the principle.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short-read workhorse behind the Illumina branch. Mechanism: fragments form clonal clusters on a flow cell; sequencing-by-synthesis adds fluorescent reversible-terminator bases one cycle at a time, imaged after each cycle, producing FASTQ. Sell the strengths: best accuracy and throughput, cheapest per base, paired-end. Then the honest limit: short reads cannot span long repeats or resolve structural variants, which is exactly why the Illumina branch uses BWA/Bowtie2 + SPAdes/MEGAHIT.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accurate long-read platform. Mechanism: a single polymerase sits in a zero-mode waveguide and reads a circular SMRTbell template repeatedly; the circular consensus (CCS) of many passes cancels random error to yield HiFi reads that are both long (~10-25 kb) and highly accurate (Q30+). Strengths: gold standard for de novo assembly and phasing. Trade-off: more expensive and lower throughput than Illumina, so it pairs with minimap2 + hifiasm/Flye.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long-read device behind the ONT branch. Core idea: DNA threads through a protein nanopore, disrupting an ionic current into a squiggle that a basecaller turns into letters. Sell the three superpowers — real-time, palm-sized, ultra-long reads (and direct RNA / methylation). Then be honest about the trade-off: higher per-base error, especially indels in homopolymers, mitigated by depth and modern basecallers. This is exactly why the ONT branch uses minimap2 + Flye, not BWA + SPAdes.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Bioinformatics can't rescue a confounded design. The March/June batch story — a recurring cautionary tale; it returns in Module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memorize columns; learn which stage emits each. Detail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quality string is the entire reason QC (Module 1) exists. Quick ASCII demo: char − 33 = 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 counts from zero — say it twice; it bites everyone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pipeline in one slide. Return to this image whenever someone is lost. Same observation, three formats — the read never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FASTQ is NOT trustworthy raw material — adapters, low-qual tails, contaminants.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FastQC like a doctor reads a chart — interpret in the context of the library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Highest value / lowest effort tool in the course. Run it after every batch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fastp = one fast pass + its own report. Show the table; default to fastp.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goal — variants: light trim; assembly: more; pseudo-align RNA: often adapters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a discussion beat; let them answer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conceptual slide. Slow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rule = does a trustworthy reference exist? Then map the domains: variant calling and RNA-seq ride the ALIGN fork; phage / metagenomics ride ASSEMBLE. The lab makes you take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Spliced RNA aligners (STAR/HISAT2) are a special case → Module 3b.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samtools is the swiss-army knife. flagstat is your first reality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reference → reconstruct by overlap. Compute / memory heavy.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higher N50 but 71% complete trap (returns in the checkpoint).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branch consumes the aligned BAM. Germline vs somatic.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kills a specific false-call source. Dedup + BQSR make the evidence honest; HaplotypeCaller makes calls; filtering keeps the defensible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tool for scale. GATK's full arc is overkill on a phage / E. coli genome.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one row aloud as a sentence. DP / AD / GQ are the trust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VCF says where, not what it does. Annotation feeds interpretation.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to VariantScribe — keep ACMG/ClinVar terminology aligned with that project. A statistical call ≠ a diagnosis. Be conservative; state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DNA aligners don't suffice for mRNA.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Want counts for DE? Salmon. Need alignments (isoforms / RNA variants)? 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convergence point: both routes end here; it's the DE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RNA-seq mistake. Say the raw-counts rule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≥ 3 replicates floor; more replicates beat more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idea. Don't rank by p-value alone. Significant ≠ meaningful (padj 1e-30, log2FC 0.08).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assemble not align — alignment only sees the known.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phage prep is mostly host DNA; also a privacy step for human 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of assembly is an undifferentiated contig pile; this separates the viral wheat.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phages with their CheckV quality tier. 18% contamination ≈ host DNA flanking an integrated prophage.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Exactly why assembly + CheckV matters — characterize the unknown.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Phage genes sparse in generic DBs → use the phage-specialized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exiting 0 means it ran, not that it's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IGV strand-bias story and the PCA-clusters-by-date (= batch effect)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report a reviewer can't reproduce from the methods is scientifically incomplete.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5 opener and the punchline: reproducibility wraps the whole skeleton. Why a workflow manager — resume, parallelism, portability, reproducibility. They understand each stage now, so nf-core pipelines are not black boxes: sarek=3a, rnaseq=3b, mag=3c. Pin versions with conda/mamba; ship in containers.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skeleton one last time; point them to the hands-on lab.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the lab. Create the env first: mamba env create -f hands-on/environment.yml.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4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8000" t="0" r="92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2158752"/>
            <a:ext cx="173926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BIOINFORMATICS · NGS PIPELINES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2749302"/>
            <a:ext cx="14716125" cy="2098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800" b="1" spc="-75" kern="0" dirty="0">
                <a:gradFill rotWithShape="1">
                  <a:gsLst>
                    <a:gs pos="0">
                      <a:srgbClr val="22D3EE">
                        <a:alpha val="100000"/>
                      </a:srgbClr>
                    </a:gs>
                    <a:gs pos="32000">
                      <a:srgbClr val="2DD4BF">
                        <a:alpha val="100000"/>
                      </a:srgbClr>
                    </a:gs>
                    <a:gs pos="96000">
                      <a:srgbClr val="A78BFA">
                        <a:alpha val="100000"/>
                      </a:srgbClr>
                    </a:gs>
                  </a:gsLst>
                  <a:lin ang="3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Methods &amp; Workflow of a Bioinformatics Pipeline Analysis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238250" y="5076379"/>
            <a:ext cx="13411200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dirty="0">
                <a:solidFill>
                  <a:srgbClr val="64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any NGS pipeline as one skeleton with swappable parts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238250" y="6051649"/>
            <a:ext cx="58474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spc="243" kern="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38250" y="6385024"/>
            <a:ext cx="547531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 / early-career researchers biology-comfortable, NGS-newer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7125593" y="6051649"/>
            <a:ext cx="9525" cy="1190625"/>
          </a:xfrm>
          <a:prstGeom prst="rect">
            <a:avLst/>
          </a:prstGeom>
          <a:solidFill>
            <a:srgbClr val="0F1A2E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706618" y="6051649"/>
            <a:ext cx="56588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spc="243" kern="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06618" y="6385024"/>
            <a:ext cx="52987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(these slides) + notes handout + hands-on lab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38250" y="7851874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6E7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Eduardo Ramos Alves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2525464"/>
            <a:ext cx="1466850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class exists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3791843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1552575" y="3620393"/>
            <a:ext cx="14392370" cy="1089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8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Bioinformatics </a:t>
            </a:r>
            <a:pPr algn="l" indent="0" marL="0">
              <a:lnSpc>
                <a:spcPct val="140000"/>
              </a:lnSpc>
              <a:buNone/>
            </a:pPr>
            <a:r>
              <a:rPr lang="en-US" sz="2850" i="1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looks </a:t>
            </a:r>
            <a:pPr algn="l" indent="0" marL="0">
              <a:lnSpc>
                <a:spcPct val="140000"/>
              </a:lnSpc>
              <a:buNone/>
            </a:pPr>
            <a:r>
              <a:rPr lang="en-US" sz="28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4 unrelated workflows — variants, RNA-seq, metagenomics, …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1238250" y="512891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1552575" y="4957465"/>
            <a:ext cx="13857967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8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It’s really </a:t>
            </a:r>
            <a:pPr algn="l" indent="0" marL="0">
              <a:lnSpc>
                <a:spcPct val="140000"/>
              </a:lnSpc>
              <a:buNone/>
            </a:pPr>
            <a:r>
              <a:rPr lang="en-US" sz="285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skeleton </a:t>
            </a:r>
            <a:pPr algn="l" indent="0" marL="0">
              <a:lnSpc>
                <a:spcPct val="140000"/>
              </a:lnSpc>
              <a:buNone/>
            </a:pPr>
            <a:r>
              <a:rPr lang="en-US" sz="28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different middle / back ends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1238250" y="5959376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1552575" y="5787926"/>
            <a:ext cx="10731907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8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 the skeleton once → </a:t>
            </a:r>
            <a:pPr algn="l" indent="0" marL="0">
              <a:lnSpc>
                <a:spcPct val="140000"/>
              </a:lnSpc>
              <a:buNone/>
            </a:pPr>
            <a:r>
              <a:rPr lang="en-US" sz="285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instantiate forever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238250" y="6866037"/>
            <a:ext cx="130302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38250" y="7751862"/>
            <a:ext cx="130302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38250" y="6866037"/>
            <a:ext cx="130302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38250" y="6866037"/>
            <a:ext cx="28575" cy="8953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Shape 12"/>
          <p:cNvSpPr/>
          <p:nvPr/>
        </p:nvSpPr>
        <p:spPr>
          <a:xfrm>
            <a:off x="14258925" y="6866037"/>
            <a:ext cx="9525" cy="895350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571625" y="7123212"/>
            <a:ext cx="1277340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are implementations of stages. </a:t>
            </a:r>
            <a:pPr algn="l" indent="0" marL="0">
              <a:buNone/>
            </a:pPr>
            <a:r>
              <a:rPr lang="en-US" sz="225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Stages are stable.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2000">
                <a:srgbClr val="2DD4BF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925217"/>
            <a:ext cx="438150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71650" y="2826990"/>
            <a:ext cx="7691321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universal pipeline skeleton</a:t>
            </a:r>
            <a:endParaRPr lang="en-US" sz="4350" dirty="0"/>
          </a:p>
        </p:txBody>
      </p:sp>
      <p:sp>
        <p:nvSpPr>
          <p:cNvPr id="5" name="Shape 2"/>
          <p:cNvSpPr/>
          <p:nvPr/>
        </p:nvSpPr>
        <p:spPr>
          <a:xfrm>
            <a:off x="1143000" y="3861643"/>
            <a:ext cx="16002000" cy="185737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33525" y="4280743"/>
            <a:ext cx="11051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2695873" y="4280743"/>
            <a:ext cx="23336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2986385" y="4280743"/>
            <a:ext cx="41924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3462784" y="4280743"/>
            <a:ext cx="23336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3753296" y="4280743"/>
            <a:ext cx="188627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5601444" y="4280743"/>
            <a:ext cx="23336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5891957" y="4233118"/>
            <a:ext cx="4150668" cy="466725"/>
          </a:xfrm>
          <a:prstGeom prst="roundRect">
            <a:avLst>
              <a:gd name="adj" fmla="val 20408"/>
            </a:avLst>
          </a:prstGeom>
          <a:solidFill>
            <a:srgbClr val="2DD4BF">
              <a:alpha val="8000"/>
            </a:srgbClr>
          </a:solidFill>
          <a:ln w="9525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882" y="4299793"/>
            <a:ext cx="395133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⟮ALIGN / ASSEMBLE⟯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0175974" y="4280743"/>
            <a:ext cx="23336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0466487" y="4280743"/>
            <a:ext cx="188627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Downstream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2314634" y="4280743"/>
            <a:ext cx="23336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2605147" y="4280743"/>
            <a:ext cx="169768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533525" y="5042743"/>
            <a:ext cx="53030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Reproducibility wraps all of it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143000" y="6290518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20" name="Text 17"/>
          <p:cNvSpPr/>
          <p:nvPr/>
        </p:nvSpPr>
        <p:spPr>
          <a:xfrm>
            <a:off x="1457325" y="6138118"/>
            <a:ext cx="6790566" cy="565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junction is a </a:t>
            </a:r>
            <a:pPr algn="l" indent="0" marL="0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format</a:t>
            </a:r>
            <a:endParaRPr lang="en-US" sz="2700" dirty="0"/>
          </a:p>
        </p:txBody>
      </p:sp>
      <p:sp>
        <p:nvSpPr>
          <p:cNvPr id="21" name="Shape 18"/>
          <p:cNvSpPr/>
          <p:nvPr/>
        </p:nvSpPr>
        <p:spPr>
          <a:xfrm>
            <a:off x="1143000" y="7065764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22" name="Text 19"/>
          <p:cNvSpPr/>
          <p:nvPr/>
        </p:nvSpPr>
        <p:spPr>
          <a:xfrm>
            <a:off x="1457325" y="6913364"/>
            <a:ext cx="8375124" cy="565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half </a:t>
            </a:r>
            <a:pPr algn="l" indent="0" marL="0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</a:t>
            </a:r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back half </a:t>
            </a:r>
            <a:pPr algn="l" indent="0" marL="0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branches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025378"/>
            <a:ext cx="1739265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how to use the materials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4120307"/>
            <a:ext cx="5105400" cy="1781175"/>
          </a:xfrm>
          <a:prstGeom prst="roundRect">
            <a:avLst>
              <a:gd name="adj" fmla="val 8556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3525" y="4415582"/>
            <a:ext cx="496633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9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modules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33525" y="4939457"/>
            <a:ext cx="465029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~3–4 h lecture + 2 h lab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6591300" y="4120307"/>
            <a:ext cx="5105400" cy="1781175"/>
          </a:xfrm>
          <a:prstGeom prst="roundRect">
            <a:avLst>
              <a:gd name="adj" fmla="val 8556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86575" y="4415582"/>
            <a:ext cx="496633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surfaces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86575" y="4939457"/>
            <a:ext cx="465029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 self-study · slides delivery · hands-on lab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944350" y="4120307"/>
            <a:ext cx="5105400" cy="1781175"/>
          </a:xfrm>
          <a:prstGeom prst="roundRect">
            <a:avLst>
              <a:gd name="adj" fmla="val 8556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39625" y="4415582"/>
            <a:ext cx="496633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C5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3a / 3b / 3c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239625" y="4939457"/>
            <a:ext cx="465029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 domains — survey all or pick one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238250" y="6339632"/>
            <a:ext cx="13735050" cy="9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parallel domain modules run side by side. The lab makes you take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forks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align + call on </a:t>
            </a:r>
            <a:pPr algn="l" indent="0" marL="0">
              <a:lnSpc>
                <a:spcPct val="145000"/>
              </a:lnSpc>
              <a:buNone/>
            </a:pPr>
            <a:r>
              <a:rPr lang="en-US" sz="2400" i="1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 coli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assemble + identify on a phage.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2000">
                <a:srgbClr val="2DD4BF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024039"/>
            <a:ext cx="17602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spc="552" kern="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 · FOUNDATIONS</a:t>
            </a:r>
            <a:endParaRPr lang="en-US" sz="17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3560415"/>
            <a:ext cx="438150" cy="438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1650" y="3462189"/>
            <a:ext cx="9896901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— stage: Design + formats</a:t>
            </a:r>
            <a:endParaRPr lang="en-US" sz="4350" dirty="0"/>
          </a:p>
        </p:txBody>
      </p:sp>
      <p:sp>
        <p:nvSpPr>
          <p:cNvPr id="6" name="Shape 3"/>
          <p:cNvSpPr/>
          <p:nvPr/>
        </p:nvSpPr>
        <p:spPr>
          <a:xfrm>
            <a:off x="1143000" y="4482554"/>
            <a:ext cx="1181249" cy="428625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 w="9525">
            <a:solidFill>
              <a:srgbClr val="2DD4BF"/>
            </a:solidFill>
            <a:prstDash val="solid"/>
          </a:ln>
          <a:effectLst>
            <a:outerShdw sx="100000" sy="100000" kx="0" ky="0" algn="bl" rotWithShape="0" blurRad="209550" dist="50800" dir="16200000">
              <a:srgbClr val="2DD4BF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304925" y="4558754"/>
            <a:ext cx="933599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7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2438549" y="4539704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9" name="Shape 6"/>
          <p:cNvSpPr/>
          <p:nvPr/>
        </p:nvSpPr>
        <p:spPr>
          <a:xfrm>
            <a:off x="2683818" y="4463504"/>
            <a:ext cx="609749" cy="466725"/>
          </a:xfrm>
          <a:prstGeom prst="roundRect">
            <a:avLst>
              <a:gd name="adj" fmla="val 20408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45743" y="4539704"/>
            <a:ext cx="362099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3407866" y="4539704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12" name="Shape 9"/>
          <p:cNvSpPr/>
          <p:nvPr/>
        </p:nvSpPr>
        <p:spPr>
          <a:xfrm>
            <a:off x="3653135" y="4463504"/>
            <a:ext cx="1752898" cy="466725"/>
          </a:xfrm>
          <a:prstGeom prst="roundRect">
            <a:avLst>
              <a:gd name="adj" fmla="val 20408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15060" y="4539704"/>
            <a:ext cx="1505248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5520333" y="4539704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15" name="Shape 12"/>
          <p:cNvSpPr/>
          <p:nvPr/>
        </p:nvSpPr>
        <p:spPr>
          <a:xfrm>
            <a:off x="5765602" y="4458742"/>
            <a:ext cx="3217515" cy="476250"/>
          </a:xfrm>
          <a:prstGeom prst="roundRect">
            <a:avLst>
              <a:gd name="adj" fmla="val 20000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27527" y="4534942"/>
            <a:ext cx="2990191" cy="3619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⟮ALIGN/ASSEMBLE⟯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9097417" y="4539704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18" name="Shape 15"/>
          <p:cNvSpPr/>
          <p:nvPr/>
        </p:nvSpPr>
        <p:spPr>
          <a:xfrm>
            <a:off x="9342686" y="4463504"/>
            <a:ext cx="1752898" cy="466725"/>
          </a:xfrm>
          <a:prstGeom prst="roundRect">
            <a:avLst>
              <a:gd name="adj" fmla="val 20408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04611" y="4539704"/>
            <a:ext cx="1505248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Downstream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11209883" y="4539704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21" name="Shape 18"/>
          <p:cNvSpPr/>
          <p:nvPr/>
        </p:nvSpPr>
        <p:spPr>
          <a:xfrm>
            <a:off x="11455152" y="4463504"/>
            <a:ext cx="1610023" cy="466725"/>
          </a:xfrm>
          <a:prstGeom prst="roundRect">
            <a:avLst>
              <a:gd name="adj" fmla="val 20408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617077" y="4539704"/>
            <a:ext cx="1362373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</a:t>
            </a:r>
            <a:endParaRPr lang="en-US" sz="1875" dirty="0"/>
          </a:p>
        </p:txBody>
      </p:sp>
      <p:sp>
        <p:nvSpPr>
          <p:cNvPr id="23" name="Shape 20"/>
          <p:cNvSpPr/>
          <p:nvPr/>
        </p:nvSpPr>
        <p:spPr>
          <a:xfrm>
            <a:off x="1143000" y="5544592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24" name="Text 21"/>
          <p:cNvSpPr/>
          <p:nvPr/>
        </p:nvSpPr>
        <p:spPr>
          <a:xfrm>
            <a:off x="1457325" y="5392192"/>
            <a:ext cx="13901833" cy="112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 pipeline is — and why we formalize it: </a:t>
            </a:r>
            <a:pPr algn="l" indent="0" marL="0">
              <a:lnSpc>
                <a:spcPct val="140000"/>
              </a:lnSpc>
              <a:buNone/>
            </a:pPr>
            <a:r>
              <a:rPr lang="en-US" sz="27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reproducibility, scale, reasoning</a:t>
            </a:r>
            <a:endParaRPr lang="en-US" sz="2775" dirty="0"/>
          </a:p>
        </p:txBody>
      </p:sp>
      <p:sp>
        <p:nvSpPr>
          <p:cNvPr id="25" name="Shape 22"/>
          <p:cNvSpPr/>
          <p:nvPr/>
        </p:nvSpPr>
        <p:spPr>
          <a:xfrm>
            <a:off x="1143000" y="6874222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26" name="Text 23"/>
          <p:cNvSpPr/>
          <p:nvPr/>
        </p:nvSpPr>
        <p:spPr>
          <a:xfrm>
            <a:off x="1457325" y="6721822"/>
            <a:ext cx="11864623" cy="57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= plumbing; the </a:t>
            </a:r>
            <a:pPr algn="l" indent="0" marL="0">
              <a:lnSpc>
                <a:spcPct val="140000"/>
              </a:lnSpc>
              <a:buNone/>
            </a:pPr>
            <a:r>
              <a:rPr lang="en-US" sz="27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junctions are file formats</a:t>
            </a:r>
            <a:endParaRPr lang="en-US" sz="27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2764036"/>
            <a:ext cx="17392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FIRST FORK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1238250" y="3183136"/>
            <a:ext cx="1739265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 platforms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238250" y="4259014"/>
            <a:ext cx="7762875" cy="2364879"/>
          </a:xfrm>
          <a:prstGeom prst="roundRect">
            <a:avLst>
              <a:gd name="adj" fmla="val 644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238250" y="6614368"/>
            <a:ext cx="7762875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38250" y="4259014"/>
            <a:ext cx="7762875" cy="2857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Shape 6"/>
          <p:cNvSpPr/>
          <p:nvPr/>
        </p:nvSpPr>
        <p:spPr>
          <a:xfrm>
            <a:off x="1238250" y="4259014"/>
            <a:ext cx="9525" cy="2364879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991600" y="4259014"/>
            <a:ext cx="9525" cy="2364879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590675" y="4611439"/>
            <a:ext cx="776382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read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590675" y="5097214"/>
            <a:ext cx="77638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Illumina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590675" y="5544889"/>
            <a:ext cx="7269766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accuracy, high throughput, low cost — short fragments.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286875" y="4259014"/>
            <a:ext cx="7762875" cy="2364879"/>
          </a:xfrm>
          <a:prstGeom prst="roundRect">
            <a:avLst>
              <a:gd name="adj" fmla="val 6444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286875" y="6614368"/>
            <a:ext cx="7762875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286875" y="4259014"/>
            <a:ext cx="7762875" cy="28575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9286875" y="4259014"/>
            <a:ext cx="9525" cy="2364879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040225" y="4259014"/>
            <a:ext cx="9525" cy="2364879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639300" y="4611439"/>
            <a:ext cx="776382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read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9639300" y="5097214"/>
            <a:ext cx="77638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ONT / PacBio HiFi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639300" y="5544889"/>
            <a:ext cx="7269766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fragments span repeats; trade some accuracy &amp; cost.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1238250" y="7042993"/>
            <a:ext cx="17392650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Trade-offs: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length · accuracy · throughput / cost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046809"/>
            <a:ext cx="1739265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cascade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238250" y="3970288"/>
            <a:ext cx="15716250" cy="555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platform choice doesn’t stop at Module 0 — it </a:t>
            </a:r>
            <a:pPr algn="l" indent="0" marL="0">
              <a:lnSpc>
                <a:spcPct val="145000"/>
              </a:lnSpc>
              <a:buNone/>
            </a:pPr>
            <a:r>
              <a:rPr lang="en-US" sz="255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propagates downstream</a:t>
            </a:r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238250" y="4887516"/>
            <a:ext cx="1589038" cy="514350"/>
          </a:xfrm>
          <a:prstGeom prst="roundRect">
            <a:avLst>
              <a:gd name="adj" fmla="val 18519"/>
            </a:avLst>
          </a:prstGeom>
          <a:solidFill>
            <a:srgbClr val="2DD4BF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8275" y="5001816"/>
            <a:ext cx="1265188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7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941588" y="4982766"/>
            <a:ext cx="21237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3192066" y="4868466"/>
            <a:ext cx="1440359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2091" y="4982766"/>
            <a:ext cx="1116509" cy="3619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aligner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746724" y="4982766"/>
            <a:ext cx="21237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4997202" y="4868466"/>
            <a:ext cx="1737717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7227" y="4982766"/>
            <a:ext cx="1413867" cy="3619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assembler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849219" y="4982766"/>
            <a:ext cx="21237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099697" y="4868466"/>
            <a:ext cx="2034927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99722" y="4982766"/>
            <a:ext cx="1711077" cy="3619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model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248924" y="4982766"/>
            <a:ext cx="21237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499402" y="4868466"/>
            <a:ext cx="2332137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9427" y="4982766"/>
            <a:ext cx="2008287" cy="3619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thresholds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238250" y="5801916"/>
            <a:ext cx="149352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38250" y="6687741"/>
            <a:ext cx="149352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238250" y="5801916"/>
            <a:ext cx="149352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238250" y="5801916"/>
            <a:ext cx="28575" cy="8953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Shape 21"/>
          <p:cNvSpPr/>
          <p:nvPr/>
        </p:nvSpPr>
        <p:spPr>
          <a:xfrm>
            <a:off x="16163925" y="5801916"/>
            <a:ext cx="9525" cy="895350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571625" y="6040041"/>
            <a:ext cx="1473555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Module-0 choice </a:t>
            </a:r>
            <a:pPr algn="l" indent="0" marL="0">
              <a:buNone/>
            </a:pPr>
            <a:r>
              <a:rPr lang="en-US" sz="24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silently rewrites </a:t>
            </a:r>
            <a:pPr algn="l" indent="0" marL="0">
              <a:buNone/>
            </a:pPr>
            <a:r>
              <a:rPr lang="en-US" sz="24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Module-2/3 toolset.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38250" y="6963966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" kern="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Per-platform detail next — Illumina, PacBio HiFi, MinION.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1657201"/>
            <a:ext cx="10687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 · SHORT-READ SPOTLIGHT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1143000" y="2076301"/>
            <a:ext cx="1068705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Illumina: the high-accuracy workhorse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143000" y="2976116"/>
            <a:ext cx="2122587" cy="504825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3975" y="3090416"/>
            <a:ext cx="18368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clonal cluster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360837" y="3090416"/>
            <a:ext cx="1915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A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571429" y="2976116"/>
            <a:ext cx="3254276" cy="504825"/>
          </a:xfrm>
          <a:prstGeom prst="roundRect">
            <a:avLst>
              <a:gd name="adj" fmla="val 18868"/>
            </a:avLst>
          </a:prstGeom>
          <a:solidFill>
            <a:srgbClr val="2DD4BF">
              <a:alpha val="8000"/>
            </a:srgbClr>
          </a:solidFill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52404" y="3090416"/>
            <a:ext cx="29899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sequencing-by-synthesis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920954" y="3090416"/>
            <a:ext cx="1915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A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131546" y="2976116"/>
            <a:ext cx="2751237" cy="504825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2521" y="3090416"/>
            <a:ext cx="24718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imaged base-by-base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78033" y="3090416"/>
            <a:ext cx="1915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A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43000" y="3576191"/>
            <a:ext cx="990749" cy="504825"/>
          </a:xfrm>
          <a:prstGeom prst="roundRect">
            <a:avLst>
              <a:gd name="adj" fmla="val 18868"/>
            </a:avLst>
          </a:prstGeom>
          <a:solidFill>
            <a:srgbClr val="2DD4BF">
              <a:alpha val="8000"/>
            </a:srgbClr>
          </a:solidFill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3975" y="3690491"/>
            <a:ext cx="70499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FASTQ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143000" y="4509641"/>
            <a:ext cx="95250" cy="9525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1409700" y="4385816"/>
            <a:ext cx="9732264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Highest accuracy &amp; throughput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Q30+, billions of reads per run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1143000" y="5511552"/>
            <a:ext cx="95250" cy="9525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1409700" y="5387727"/>
            <a:ext cx="9732264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Short, paired-end reads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(75–300 bp) — lowest cost per base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1143000" y="6513463"/>
            <a:ext cx="95250" cy="9525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1409700" y="6389638"/>
            <a:ext cx="9732264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default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variants, RNA-seq &amp; most short-read assembly</a:t>
            </a:r>
            <a:endParaRPr lang="en-US" sz="2175" dirty="0"/>
          </a:p>
        </p:txBody>
      </p:sp>
      <p:sp>
        <p:nvSpPr>
          <p:cNvPr id="22" name="Shape 20"/>
          <p:cNvSpPr/>
          <p:nvPr/>
        </p:nvSpPr>
        <p:spPr>
          <a:xfrm>
            <a:off x="1143000" y="7486799"/>
            <a:ext cx="9715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143000" y="8620274"/>
            <a:ext cx="9715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7486799"/>
            <a:ext cx="9715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7486799"/>
            <a:ext cx="28575" cy="1143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6" name="Shape 24"/>
          <p:cNvSpPr/>
          <p:nvPr/>
        </p:nvSpPr>
        <p:spPr>
          <a:xfrm>
            <a:off x="10848975" y="7486799"/>
            <a:ext cx="9525" cy="1143000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457325" y="7705874"/>
            <a:ext cx="939736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Trade-off: </a:t>
            </a:r>
            <a:pPr algn="l" indent="0" marL="0">
              <a:buNone/>
            </a:pPr>
            <a:r>
              <a:rPr lang="en-US" sz="21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reads </a:t>
            </a:r>
            <a:pPr algn="l" indent="0" marL="0">
              <a:buNone/>
            </a:pPr>
            <a:r>
              <a:rPr lang="en-US" sz="21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struggle across repeats &amp; structural variants — pairs with </a:t>
            </a:r>
            <a:pPr algn="l" indent="0" marL="0">
              <a:buNone/>
            </a:pPr>
            <a:r>
              <a:rPr lang="en-US" sz="21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BWA / Bowtie2 + SPAdes</a:t>
            </a:r>
            <a:pPr algn="l" indent="0" marL="0">
              <a:buNone/>
            </a:pPr>
            <a:r>
              <a:rPr lang="en-US" sz="21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1430000" y="2280345"/>
            <a:ext cx="5734050" cy="5353050"/>
          </a:xfrm>
          <a:prstGeom prst="roundRect">
            <a:avLst>
              <a:gd name="adj" fmla="val 2847"/>
            </a:avLst>
          </a:prstGeom>
          <a:solidFill>
            <a:srgbClr val="FFFFFF"/>
          </a:solidFill>
          <a:ln w="9525">
            <a:solidFill>
              <a:srgbClr val="0F1A2E">
                <a:alpha val="12000"/>
              </a:srgbClr>
            </a:solidFill>
            <a:prstDash val="solid"/>
          </a:ln>
          <a:effectLst>
            <a:outerShdw sx="100000" sy="100000" kx="0" ky="0" algn="bl" rotWithShape="0" blurRad="209550" dist="57150" dir="5400000">
              <a:srgbClr val="0F1A2E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1144250" y="7766745"/>
            <a:ext cx="628650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spc="27" kern="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Illumina · clusters on a flow cell, read base-by-base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2043857"/>
            <a:ext cx="10687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 · LONG-READ SPOTLIGHT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1143000" y="2462957"/>
            <a:ext cx="1068705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PacBio HiFi: long AND accurate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143000" y="3362771"/>
            <a:ext cx="2751237" cy="504825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3975" y="3477071"/>
            <a:ext cx="24718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polymerase in a ZMW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989487" y="3477071"/>
            <a:ext cx="1915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A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200079" y="3362771"/>
            <a:ext cx="3380036" cy="504825"/>
          </a:xfrm>
          <a:prstGeom prst="roundRect">
            <a:avLst>
              <a:gd name="adj" fmla="val 18868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1054" y="3477071"/>
            <a:ext cx="31194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circular consensus (CCS)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675364" y="3477071"/>
            <a:ext cx="1915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A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143000" y="3962846"/>
            <a:ext cx="3254276" cy="504825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3975" y="4077146"/>
            <a:ext cx="29899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multi-pass error cancel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492526" y="4077146"/>
            <a:ext cx="1915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A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703118" y="3962846"/>
            <a:ext cx="1619548" cy="504825"/>
          </a:xfrm>
          <a:prstGeom prst="roundRect">
            <a:avLst>
              <a:gd name="adj" fmla="val 18868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4093" y="4077146"/>
            <a:ext cx="13337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HiFi reads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143000" y="4896296"/>
            <a:ext cx="95250" cy="95250"/>
          </a:xfrm>
          <a:prstGeom prst="roundRect">
            <a:avLst>
              <a:gd name="adj" fmla="val 20000"/>
            </a:avLst>
          </a:prstGeom>
          <a:solidFill>
            <a:srgbClr val="7C5CD6"/>
          </a:solidFill>
          <a:ln/>
        </p:spPr>
      </p:sp>
      <p:sp>
        <p:nvSpPr>
          <p:cNvPr id="17" name="Text 15"/>
          <p:cNvSpPr/>
          <p:nvPr/>
        </p:nvSpPr>
        <p:spPr>
          <a:xfrm>
            <a:off x="1409700" y="4772471"/>
            <a:ext cx="8387730" cy="462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&amp; accurate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HiFi reads ~10–25 kb at Q30+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1143000" y="5511552"/>
            <a:ext cx="95250" cy="95250"/>
          </a:xfrm>
          <a:prstGeom prst="roundRect">
            <a:avLst>
              <a:gd name="adj" fmla="val 20000"/>
            </a:avLst>
          </a:prstGeom>
          <a:solidFill>
            <a:srgbClr val="7C5CD6"/>
          </a:solidFill>
          <a:ln/>
        </p:spPr>
      </p:sp>
      <p:sp>
        <p:nvSpPr>
          <p:cNvPr id="19" name="Text 17"/>
          <p:cNvSpPr/>
          <p:nvPr/>
        </p:nvSpPr>
        <p:spPr>
          <a:xfrm>
            <a:off x="1409700" y="5387727"/>
            <a:ext cx="9732264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Circular consensus (CCS)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repeated passes around a SMRTbell cancel random error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1143000" y="6513463"/>
            <a:ext cx="95250" cy="95250"/>
          </a:xfrm>
          <a:prstGeom prst="roundRect">
            <a:avLst>
              <a:gd name="adj" fmla="val 20000"/>
            </a:avLst>
          </a:prstGeom>
          <a:solidFill>
            <a:srgbClr val="7C5CD6"/>
          </a:solidFill>
          <a:ln/>
        </p:spPr>
      </p:sp>
      <p:sp>
        <p:nvSpPr>
          <p:cNvPr id="21" name="Text 19"/>
          <p:cNvSpPr/>
          <p:nvPr/>
        </p:nvSpPr>
        <p:spPr>
          <a:xfrm>
            <a:off x="1409700" y="6389638"/>
            <a:ext cx="9846558" cy="462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 standard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de novo assembly &amp; haplotype phasing</a:t>
            </a:r>
            <a:endParaRPr lang="en-US" sz="2175" dirty="0"/>
          </a:p>
        </p:txBody>
      </p:sp>
      <p:sp>
        <p:nvSpPr>
          <p:cNvPr id="22" name="Shape 20"/>
          <p:cNvSpPr/>
          <p:nvPr/>
        </p:nvSpPr>
        <p:spPr>
          <a:xfrm>
            <a:off x="1143000" y="7100143"/>
            <a:ext cx="9715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143000" y="8233618"/>
            <a:ext cx="9715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7100143"/>
            <a:ext cx="9715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7100143"/>
            <a:ext cx="28575" cy="1143000"/>
          </a:xfrm>
          <a:prstGeom prst="rect">
            <a:avLst/>
          </a:prstGeom>
          <a:solidFill>
            <a:srgbClr val="7C5CD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848975" y="7100143"/>
            <a:ext cx="9525" cy="1143000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457325" y="7319218"/>
            <a:ext cx="939736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Trade-off: </a:t>
            </a:r>
            <a:pPr algn="l" indent="0" marL="0">
              <a:buNone/>
            </a:pPr>
            <a:r>
              <a:rPr lang="en-US" sz="2100" b="1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cost, lower throughput </a:t>
            </a:r>
            <a:pPr algn="l" indent="0" marL="0">
              <a:buNone/>
            </a:pPr>
            <a:r>
              <a:rPr lang="en-US" sz="21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 Illumina — pairs with </a:t>
            </a:r>
            <a:pPr algn="l" indent="0" marL="0">
              <a:buNone/>
            </a:pPr>
            <a:r>
              <a:rPr lang="en-US" sz="21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minimap2 + hifiasm / Flye</a:t>
            </a:r>
            <a:pPr algn="l" indent="0" marL="0">
              <a:buNone/>
            </a:pPr>
            <a:r>
              <a:rPr lang="en-US" sz="21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1430000" y="2280345"/>
            <a:ext cx="5734050" cy="5353050"/>
          </a:xfrm>
          <a:prstGeom prst="roundRect">
            <a:avLst>
              <a:gd name="adj" fmla="val 2847"/>
            </a:avLst>
          </a:prstGeom>
          <a:solidFill>
            <a:srgbClr val="FFFFFF"/>
          </a:solidFill>
          <a:ln w="9525">
            <a:solidFill>
              <a:srgbClr val="0F1A2E">
                <a:alpha val="12000"/>
              </a:srgbClr>
            </a:solidFill>
            <a:prstDash val="solid"/>
          </a:ln>
          <a:effectLst>
            <a:outerShdw sx="100000" sy="100000" kx="0" ky="0" algn="bl" rotWithShape="0" blurRad="209550" dist="57150" dir="5400000">
              <a:srgbClr val="0F1A2E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1144250" y="7766745"/>
            <a:ext cx="628650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spc="27" kern="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PacBio · multi-pass circular consensus → HiFi reads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1369219"/>
            <a:ext cx="10687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 · LONG-READ SPOTLIGHT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1143000" y="1788319"/>
            <a:ext cx="10006965" cy="119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MinION: nanopore sequencing in your palm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143000" y="3264098"/>
            <a:ext cx="2625477" cy="504825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3975" y="3378398"/>
            <a:ext cx="234229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DNA through a pore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863727" y="3378398"/>
            <a:ext cx="1915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A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074319" y="3264098"/>
            <a:ext cx="3128516" cy="504825"/>
          </a:xfrm>
          <a:prstGeom prst="roundRect">
            <a:avLst>
              <a:gd name="adj" fmla="val 18868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5294" y="3378398"/>
            <a:ext cx="286042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ionic-current squiggle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298085" y="3378398"/>
            <a:ext cx="1915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A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508677" y="3264098"/>
            <a:ext cx="2751237" cy="504825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9652" y="3378398"/>
            <a:ext cx="24718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basecaller (Dorado)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355163" y="3378398"/>
            <a:ext cx="1915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A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43000" y="3864173"/>
            <a:ext cx="990749" cy="504825"/>
          </a:xfrm>
          <a:prstGeom prst="roundRect">
            <a:avLst>
              <a:gd name="adj" fmla="val 18868"/>
            </a:avLst>
          </a:prstGeom>
          <a:solidFill>
            <a:srgbClr val="2DD4BF">
              <a:alpha val="8000"/>
            </a:srgbClr>
          </a:solidFill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3975" y="3978473"/>
            <a:ext cx="70499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FASTQ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143000" y="4797623"/>
            <a:ext cx="95250" cy="95250"/>
          </a:xfrm>
          <a:prstGeom prst="roundRect">
            <a:avLst>
              <a:gd name="adj" fmla="val 20000"/>
            </a:avLst>
          </a:prstGeom>
          <a:solidFill>
            <a:srgbClr val="7C5CD6"/>
          </a:solidFill>
          <a:ln/>
        </p:spPr>
      </p:sp>
      <p:sp>
        <p:nvSpPr>
          <p:cNvPr id="17" name="Text 15"/>
          <p:cNvSpPr/>
          <p:nvPr/>
        </p:nvSpPr>
        <p:spPr>
          <a:xfrm>
            <a:off x="1409700" y="4673798"/>
            <a:ext cx="9732264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 &amp; portable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USB-powered, palm-sized; reads stream as they sequence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1143000" y="5799534"/>
            <a:ext cx="95250" cy="95250"/>
          </a:xfrm>
          <a:prstGeom prst="roundRect">
            <a:avLst>
              <a:gd name="adj" fmla="val 20000"/>
            </a:avLst>
          </a:prstGeom>
          <a:solidFill>
            <a:srgbClr val="7C5CD6"/>
          </a:solidFill>
          <a:ln/>
        </p:spPr>
      </p:sp>
      <p:sp>
        <p:nvSpPr>
          <p:cNvPr id="19" name="Text 17"/>
          <p:cNvSpPr/>
          <p:nvPr/>
        </p:nvSpPr>
        <p:spPr>
          <a:xfrm>
            <a:off x="1409700" y="5675709"/>
            <a:ext cx="9732264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Ultra-long reads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tens of kb to &gt;1 Mb; span repeats &amp; structural variants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1143000" y="6801445"/>
            <a:ext cx="95250" cy="95250"/>
          </a:xfrm>
          <a:prstGeom prst="roundRect">
            <a:avLst>
              <a:gd name="adj" fmla="val 20000"/>
            </a:avLst>
          </a:prstGeom>
          <a:solidFill>
            <a:srgbClr val="7C5CD6"/>
          </a:solidFill>
          <a:ln/>
        </p:spPr>
      </p:sp>
      <p:sp>
        <p:nvSpPr>
          <p:cNvPr id="21" name="Text 19"/>
          <p:cNvSpPr/>
          <p:nvPr/>
        </p:nvSpPr>
        <p:spPr>
          <a:xfrm>
            <a:off x="1409700" y="6677620"/>
            <a:ext cx="9732264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RNA &amp; methylation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read base modifications without amplification</a:t>
            </a:r>
            <a:endParaRPr lang="en-US" sz="2175" dirty="0"/>
          </a:p>
        </p:txBody>
      </p:sp>
      <p:sp>
        <p:nvSpPr>
          <p:cNvPr id="22" name="Shape 20"/>
          <p:cNvSpPr/>
          <p:nvPr/>
        </p:nvSpPr>
        <p:spPr>
          <a:xfrm>
            <a:off x="1143000" y="7774781"/>
            <a:ext cx="9715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143000" y="8908256"/>
            <a:ext cx="9715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7774781"/>
            <a:ext cx="9715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7774781"/>
            <a:ext cx="28575" cy="1143000"/>
          </a:xfrm>
          <a:prstGeom prst="rect">
            <a:avLst/>
          </a:prstGeom>
          <a:solidFill>
            <a:srgbClr val="7C5CD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848975" y="7774781"/>
            <a:ext cx="9525" cy="1143000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457325" y="7993856"/>
            <a:ext cx="939736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Trade-off: </a:t>
            </a:r>
            <a:pPr algn="l" indent="0" marL="0">
              <a:buNone/>
            </a:pPr>
            <a:r>
              <a:rPr lang="en-US" sz="2100" b="1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per-base error </a:t>
            </a:r>
            <a:pPr algn="l" indent="0" marL="0">
              <a:buNone/>
            </a:pPr>
            <a:r>
              <a:rPr lang="en-US" sz="21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(homopolymer indels) — so the ONT branch pairs with </a:t>
            </a:r>
            <a:pPr algn="l" indent="0" marL="0">
              <a:buNone/>
            </a:pPr>
            <a:r>
              <a:rPr lang="en-US" sz="21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minimap2 + Flye</a:t>
            </a:r>
            <a:pPr algn="l" indent="0" marL="0">
              <a:buNone/>
            </a:pPr>
            <a:r>
              <a:rPr lang="en-US" sz="21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1430000" y="2280345"/>
            <a:ext cx="5734050" cy="5353050"/>
          </a:xfrm>
          <a:prstGeom prst="roundRect">
            <a:avLst>
              <a:gd name="adj" fmla="val 2847"/>
            </a:avLst>
          </a:prstGeom>
          <a:solidFill>
            <a:srgbClr val="FFFFFF"/>
          </a:solidFill>
          <a:ln w="9525">
            <a:solidFill>
              <a:srgbClr val="0F1A2E">
                <a:alpha val="12000"/>
              </a:srgbClr>
            </a:solidFill>
            <a:prstDash val="solid"/>
          </a:ln>
          <a:effectLst>
            <a:outerShdw sx="100000" sy="100000" kx="0" ky="0" algn="bl" rotWithShape="0" blurRad="209550" dist="57150" dir="5400000">
              <a:srgbClr val="0F1A2E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1144250" y="7766745"/>
            <a:ext cx="628650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spc="27" kern="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MinION device · nanopore squiggle → basecalled reads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2974925"/>
            <a:ext cx="1739265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design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4241304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1552575" y="4069854"/>
            <a:ext cx="14656549" cy="57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Replicates </a:t>
            </a:r>
            <a:pPr algn="l" indent="0" marL="0">
              <a:lnSpc>
                <a:spcPct val="140000"/>
              </a:lnSpc>
              <a:buNone/>
            </a:pPr>
            <a:r>
              <a:rPr lang="en-US" sz="27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(biological » technical), </a:t>
            </a:r>
            <a:pPr algn="l" indent="0" marL="0">
              <a:lnSpc>
                <a:spcPct val="140000"/>
              </a:lnSpc>
              <a:buNone/>
            </a:pPr>
            <a:r>
              <a:rPr lang="en-US" sz="27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</a:t>
            </a:r>
            <a:pPr algn="l" indent="0" marL="0">
              <a:lnSpc>
                <a:spcPct val="140000"/>
              </a:lnSpc>
              <a:buNone/>
            </a:pPr>
            <a:r>
              <a:rPr lang="en-US" sz="27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depth / coverage</a:t>
            </a:r>
            <a:endParaRPr lang="en-US" sz="2775" dirty="0"/>
          </a:p>
        </p:txBody>
      </p:sp>
      <p:sp>
        <p:nvSpPr>
          <p:cNvPr id="6" name="Shape 4"/>
          <p:cNvSpPr/>
          <p:nvPr/>
        </p:nvSpPr>
        <p:spPr>
          <a:xfrm>
            <a:off x="1238250" y="5068044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1552575" y="4896594"/>
            <a:ext cx="14392370" cy="1072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 effects: </a:t>
            </a:r>
            <a:pPr algn="l" indent="0" marL="0">
              <a:lnSpc>
                <a:spcPct val="140000"/>
              </a:lnSpc>
              <a:buNone/>
            </a:pPr>
            <a:r>
              <a:rPr lang="en-US" sz="27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randomize conditions across batches, record batch as metadata</a:t>
            </a:r>
            <a:endParaRPr lang="en-US" sz="2775" dirty="0"/>
          </a:p>
        </p:txBody>
      </p:sp>
      <p:sp>
        <p:nvSpPr>
          <p:cNvPr id="8" name="Shape 6"/>
          <p:cNvSpPr/>
          <p:nvPr/>
        </p:nvSpPr>
        <p:spPr>
          <a:xfrm>
            <a:off x="1238250" y="6445300"/>
            <a:ext cx="13506450" cy="866775"/>
          </a:xfrm>
          <a:prstGeom prst="roundRect">
            <a:avLst>
              <a:gd name="adj" fmla="val 175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38250" y="7302550"/>
            <a:ext cx="1350645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38250" y="6445300"/>
            <a:ext cx="1350645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38250" y="6445300"/>
            <a:ext cx="28575" cy="86677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Shape 10"/>
          <p:cNvSpPr/>
          <p:nvPr/>
        </p:nvSpPr>
        <p:spPr>
          <a:xfrm>
            <a:off x="14735175" y="6445300"/>
            <a:ext cx="9525" cy="86677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571625" y="6683425"/>
            <a:ext cx="13263944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Bioinformatics </a:t>
            </a:r>
            <a:pPr algn="l" indent="0" marL="0">
              <a:buNone/>
            </a:pPr>
            <a:r>
              <a:rPr lang="en-US" sz="232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rescue </a:t>
            </a:r>
            <a:pPr algn="l" indent="0" marL="0">
              <a:buNone/>
            </a:pPr>
            <a:r>
              <a:rPr lang="en-US" sz="232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confounded design.</a:t>
            </a:r>
            <a:endParaRPr lang="en-US" sz="23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2000">
                <a:srgbClr val="2DD4BF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808809"/>
            <a:ext cx="1760220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formats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143000" y="4884688"/>
            <a:ext cx="1371749" cy="657225"/>
          </a:xfrm>
          <a:prstGeom prst="roundRect">
            <a:avLst>
              <a:gd name="adj" fmla="val 17391"/>
            </a:avLst>
          </a:prstGeom>
          <a:solidFill>
            <a:srgbClr val="2DD4BF">
              <a:alpha val="8000"/>
            </a:srgbClr>
          </a:solidFill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00175" y="5027563"/>
            <a:ext cx="93359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2686199" y="4884688"/>
            <a:ext cx="1371749" cy="657225"/>
          </a:xfrm>
          <a:prstGeom prst="roundRect">
            <a:avLst>
              <a:gd name="adj" fmla="val 17391"/>
            </a:avLst>
          </a:prstGeom>
          <a:solidFill>
            <a:srgbClr val="2DD4BF">
              <a:alpha val="8000"/>
            </a:srgbClr>
          </a:solidFill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43374" y="5027563"/>
            <a:ext cx="93359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FASTQ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4229398" y="4884688"/>
            <a:ext cx="2572196" cy="657225"/>
          </a:xfrm>
          <a:prstGeom prst="roundRect">
            <a:avLst>
              <a:gd name="adj" fmla="val 17391"/>
            </a:avLst>
          </a:prstGeom>
          <a:solidFill>
            <a:srgbClr val="2DD4BF">
              <a:alpha val="8000"/>
            </a:srgbClr>
          </a:solidFill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6573" y="5027563"/>
            <a:ext cx="213501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SAM/BAM/CRAM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973044" y="4884688"/>
            <a:ext cx="1028849" cy="657225"/>
          </a:xfrm>
          <a:prstGeom prst="roundRect">
            <a:avLst>
              <a:gd name="adj" fmla="val 17391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30219" y="5027563"/>
            <a:ext cx="59069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VCF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8173343" y="4884688"/>
            <a:ext cx="1714798" cy="657225"/>
          </a:xfrm>
          <a:prstGeom prst="roundRect">
            <a:avLst>
              <a:gd name="adj" fmla="val 17391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0518" y="5027563"/>
            <a:ext cx="12766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GFF/GTF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059591" y="4884688"/>
            <a:ext cx="1028849" cy="657225"/>
          </a:xfrm>
          <a:prstGeom prst="roundRect">
            <a:avLst>
              <a:gd name="adj" fmla="val 17391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16766" y="5027563"/>
            <a:ext cx="59069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BED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43000" y="5961013"/>
            <a:ext cx="15192375" cy="555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format = the </a:t>
            </a:r>
            <a:pPr algn="l" indent="0" marL="0">
              <a:lnSpc>
                <a:spcPct val="145000"/>
              </a:lnSpc>
              <a:buNone/>
            </a:pPr>
            <a:r>
              <a:rPr lang="en-US" sz="255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of one stage</a:t>
            </a:r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the </a:t>
            </a:r>
            <a:pPr algn="l" indent="0" marL="0">
              <a:lnSpc>
                <a:spcPct val="145000"/>
              </a:lnSpc>
              <a:buNone/>
            </a:pPr>
            <a:r>
              <a:rPr lang="en-US" sz="255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of the next</a:t>
            </a:r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2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2454771"/>
            <a:ext cx="1051941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FASTQ &amp; Phred quality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3433911"/>
            <a:ext cx="9563100" cy="1990725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8275" y="3691086"/>
            <a:ext cx="9259443" cy="15144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6E7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@read_001 </a:t>
            </a:r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1F2A4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ACGTACGTAC…</a:t>
            </a:r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6E7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sequence </a:t>
            </a:r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1F2A4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1F2A4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IIIIIIII</a:t>
            </a:r>
            <a:endParaRPr lang="en-US" sz="18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</a:t>
            </a:r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6E7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Phred quality (per base)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143000" y="5919936"/>
            <a:ext cx="95250" cy="9525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1428750" y="5767536"/>
            <a:ext cx="9555671" cy="9655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lines / read; quality string = per-base </a:t>
            </a:r>
            <a:pPr algn="l" indent="0" marL="0">
              <a:lnSpc>
                <a:spcPct val="140000"/>
              </a:lnSpc>
              <a:buNone/>
            </a:pPr>
            <a:r>
              <a:rPr lang="en-US" sz="24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Phred </a:t>
            </a:r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−10·log₁₀ P</a:t>
            </a:r>
            <a:endParaRPr lang="en-US" sz="2475" dirty="0"/>
          </a:p>
        </p:txBody>
      </p:sp>
      <p:sp>
        <p:nvSpPr>
          <p:cNvPr id="8" name="Shape 6"/>
          <p:cNvSpPr/>
          <p:nvPr/>
        </p:nvSpPr>
        <p:spPr>
          <a:xfrm>
            <a:off x="1143000" y="7056983"/>
            <a:ext cx="95250" cy="9525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1428750" y="6904583"/>
            <a:ext cx="9555671" cy="9655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Q20 = 1% error · Q30 = 0.1% · </a:t>
            </a:r>
            <a:pPr algn="l" indent="0" marL="0">
              <a:lnSpc>
                <a:spcPct val="140000"/>
              </a:lnSpc>
              <a:buNone/>
            </a:pPr>
            <a:r>
              <a:rPr lang="en-US" sz="24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Phred+33 </a:t>
            </a:r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ASCII encoding</a:t>
            </a:r>
            <a:endParaRPr lang="en-US" sz="2475" dirty="0"/>
          </a:p>
        </p:txBody>
      </p:sp>
      <p:sp>
        <p:nvSpPr>
          <p:cNvPr id="10" name="Shape 8"/>
          <p:cNvSpPr/>
          <p:nvPr/>
        </p:nvSpPr>
        <p:spPr>
          <a:xfrm>
            <a:off x="11239500" y="2708970"/>
            <a:ext cx="5924550" cy="4495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0F1A2E">
                <a:alpha val="12000"/>
              </a:srgbClr>
            </a:solidFill>
            <a:prstDash val="solid"/>
          </a:ln>
          <a:effectLst>
            <a:outerShdw sx="100000" sy="100000" kx="0" ky="0" algn="bl" rotWithShape="0" blurRad="209550" dist="57150" dir="5400000">
              <a:srgbClr val="0F1A2E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44225" y="7338120"/>
            <a:ext cx="649605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spc="27" kern="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FASTQ — raw reads straight off the sequencer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2850952"/>
            <a:ext cx="1030986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BAM, VCF, GFF / BED in one breath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3887242"/>
            <a:ext cx="2200275" cy="1900833"/>
          </a:xfrm>
          <a:prstGeom prst="roundRect">
            <a:avLst>
              <a:gd name="adj" fmla="val 7015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76375" y="4144417"/>
            <a:ext cx="189642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76375" y="4611142"/>
            <a:ext cx="1800225" cy="957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aligned reads POS · MAPQ · CIGAR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3629025" y="3887242"/>
            <a:ext cx="2200275" cy="1900833"/>
          </a:xfrm>
          <a:prstGeom prst="roundRect">
            <a:avLst>
              <a:gd name="adj" fmla="val 7015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67150" y="4144417"/>
            <a:ext cx="189642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VCF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867150" y="4611142"/>
            <a:ext cx="1896428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variants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6019800" y="3887242"/>
            <a:ext cx="2200275" cy="1900833"/>
          </a:xfrm>
          <a:prstGeom prst="roundRect">
            <a:avLst>
              <a:gd name="adj" fmla="val 7015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7925" y="4144417"/>
            <a:ext cx="189642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GFF/GTF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257925" y="4611142"/>
            <a:ext cx="1896428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8410575" y="3887242"/>
            <a:ext cx="2200275" cy="1900833"/>
          </a:xfrm>
          <a:prstGeom prst="roundRect">
            <a:avLst>
              <a:gd name="adj" fmla="val 7015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8700" y="4144417"/>
            <a:ext cx="189642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BED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648700" y="4611142"/>
            <a:ext cx="1800225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 intervals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238250" y="6188125"/>
            <a:ext cx="9372600" cy="1247775"/>
          </a:xfrm>
          <a:prstGeom prst="roundRect">
            <a:avLst>
              <a:gd name="adj" fmla="val 122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38250" y="7426375"/>
            <a:ext cx="93726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38250" y="6188125"/>
            <a:ext cx="93726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238250" y="6188125"/>
            <a:ext cx="28575" cy="124777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01325" y="6188125"/>
            <a:ext cx="9525" cy="124777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571625" y="6426250"/>
            <a:ext cx="900607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BED is </a:t>
            </a:r>
            <a:pPr algn="l" indent="0" marL="0">
              <a:buNone/>
            </a:pPr>
            <a:r>
              <a:rPr lang="en-US" sz="232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0-based</a:t>
            </a:r>
            <a:pPr algn="l" indent="0" marL="0">
              <a:buNone/>
            </a:pPr>
            <a:r>
              <a:rPr lang="en-US" sz="232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GFF / VCF are </a:t>
            </a:r>
            <a:pPr algn="l" indent="0" marL="0">
              <a:buNone/>
            </a:pPr>
            <a:r>
              <a:rPr lang="en-US" sz="232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1-based </a:t>
            </a:r>
            <a:pPr algn="l" indent="0" marL="0">
              <a:buNone/>
            </a:pPr>
            <a:r>
              <a:rPr lang="en-US" sz="232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the off-by-one trap.</a:t>
            </a:r>
            <a:endParaRPr lang="en-US" sz="2325" dirty="0"/>
          </a:p>
        </p:txBody>
      </p:sp>
      <p:sp>
        <p:nvSpPr>
          <p:cNvPr id="22" name="Shape 20"/>
          <p:cNvSpPr/>
          <p:nvPr/>
        </p:nvSpPr>
        <p:spPr>
          <a:xfrm>
            <a:off x="11144250" y="2470845"/>
            <a:ext cx="5924550" cy="4972050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9525">
            <a:solidFill>
              <a:srgbClr val="0F1A2E">
                <a:alpha val="12000"/>
              </a:srgbClr>
            </a:solidFill>
            <a:prstDash val="solid"/>
          </a:ln>
          <a:effectLst>
            <a:outerShdw sx="100000" sy="100000" kx="0" ky="0" algn="bl" rotWithShape="0" blurRad="209550" dist="57150" dir="5400000">
              <a:srgbClr val="0F1A2E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848975" y="7576245"/>
            <a:ext cx="649605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spc="27" kern="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records: BAM (samtools view) · VCF · GFF · BED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2000">
                <a:srgbClr val="2DD4BF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181052"/>
            <a:ext cx="1739265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FASTQ → BAM → VCF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238250" y="4138017"/>
            <a:ext cx="4923086" cy="1710630"/>
          </a:xfrm>
          <a:prstGeom prst="roundRect">
            <a:avLst>
              <a:gd name="adj" fmla="val 8909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3525" y="4433292"/>
            <a:ext cx="476578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FASTQ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533525" y="4890492"/>
            <a:ext cx="446251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letter (low-Q 3′ tail)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32786" y="4138017"/>
            <a:ext cx="254347" cy="1748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682383" y="4138017"/>
            <a:ext cx="4923234" cy="1710630"/>
          </a:xfrm>
          <a:prstGeom prst="roundRect">
            <a:avLst>
              <a:gd name="adj" fmla="val 8909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77658" y="4433292"/>
            <a:ext cx="476595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E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BAM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977658" y="4890492"/>
            <a:ext cx="446266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CIGAR mismatch + soft-clip MAPQ 60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77067" y="4138017"/>
            <a:ext cx="254347" cy="1748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2126664" y="4138017"/>
            <a:ext cx="4923086" cy="1710630"/>
          </a:xfrm>
          <a:prstGeom prst="roundRect">
            <a:avLst>
              <a:gd name="adj" fmla="val 8909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21939" y="4433292"/>
            <a:ext cx="476578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VCF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421939" y="4890492"/>
            <a:ext cx="446251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0/1 genotype DP=31 · PASS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8250" y="6210598"/>
            <a:ext cx="158115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238250" y="7096423"/>
            <a:ext cx="15811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238250" y="6210598"/>
            <a:ext cx="15811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38250" y="6210598"/>
            <a:ext cx="28575" cy="8953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Shape 17"/>
          <p:cNvSpPr/>
          <p:nvPr/>
        </p:nvSpPr>
        <p:spPr>
          <a:xfrm>
            <a:off x="17040225" y="6210598"/>
            <a:ext cx="9525" cy="895350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571625" y="6448723"/>
            <a:ext cx="1563814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observation, three formats — the </a:t>
            </a:r>
            <a:pPr algn="l" indent="0" marL="0">
              <a:buNone/>
            </a:pPr>
            <a:r>
              <a:rPr lang="en-US" sz="24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never changes</a:t>
            </a:r>
            <a:pPr algn="l" indent="0" marL="0">
              <a:buNone/>
            </a:pPr>
            <a:r>
              <a:rPr lang="en-US" sz="24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2000">
                <a:srgbClr val="2DD4BF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468886"/>
            <a:ext cx="17602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spc="552" kern="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1 · QC &amp; PREPROCESSING</a:t>
            </a:r>
            <a:endParaRPr lang="en-US" sz="17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4005262"/>
            <a:ext cx="438150" cy="438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1650" y="3907036"/>
            <a:ext cx="511600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&amp; Preprocessing</a:t>
            </a:r>
            <a:endParaRPr lang="en-US" sz="4350" dirty="0"/>
          </a:p>
        </p:txBody>
      </p:sp>
      <p:sp>
        <p:nvSpPr>
          <p:cNvPr id="6" name="Shape 3"/>
          <p:cNvSpPr/>
          <p:nvPr/>
        </p:nvSpPr>
        <p:spPr>
          <a:xfrm>
            <a:off x="1143000" y="4908352"/>
            <a:ext cx="1181249" cy="466725"/>
          </a:xfrm>
          <a:prstGeom prst="roundRect">
            <a:avLst>
              <a:gd name="adj" fmla="val 20408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04925" y="4984552"/>
            <a:ext cx="933599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2438549" y="4984552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9" name="Shape 6"/>
          <p:cNvSpPr/>
          <p:nvPr/>
        </p:nvSpPr>
        <p:spPr>
          <a:xfrm>
            <a:off x="2683818" y="4927402"/>
            <a:ext cx="609749" cy="428625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 w="9525">
            <a:solidFill>
              <a:srgbClr val="2DD4BF"/>
            </a:solidFill>
            <a:prstDash val="solid"/>
          </a:ln>
          <a:effectLst>
            <a:outerShdw sx="100000" sy="100000" kx="0" ky="0" algn="bl" rotWithShape="0" blurRad="209550" dist="50800" dir="16200000">
              <a:srgbClr val="2DD4BF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845743" y="5003602"/>
            <a:ext cx="362099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7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3407866" y="4984552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12" name="Shape 9"/>
          <p:cNvSpPr/>
          <p:nvPr/>
        </p:nvSpPr>
        <p:spPr>
          <a:xfrm>
            <a:off x="3653135" y="4927402"/>
            <a:ext cx="1752898" cy="428625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 w="9525">
            <a:solidFill>
              <a:srgbClr val="2DD4BF"/>
            </a:solidFill>
            <a:prstDash val="solid"/>
          </a:ln>
          <a:effectLst>
            <a:outerShdw sx="100000" sy="100000" kx="0" ky="0" algn="bl" rotWithShape="0" blurRad="209550" dist="50800" dir="16200000">
              <a:srgbClr val="2DD4BF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815060" y="5003602"/>
            <a:ext cx="1505248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7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5520333" y="4984552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15" name="Shape 12"/>
          <p:cNvSpPr/>
          <p:nvPr/>
        </p:nvSpPr>
        <p:spPr>
          <a:xfrm>
            <a:off x="5765602" y="4903589"/>
            <a:ext cx="3217515" cy="476250"/>
          </a:xfrm>
          <a:prstGeom prst="roundRect">
            <a:avLst>
              <a:gd name="adj" fmla="val 20000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27527" y="4979789"/>
            <a:ext cx="2990191" cy="3619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⟮ALIGN/ASSEMBLE⟯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9097417" y="4984552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18" name="Shape 15"/>
          <p:cNvSpPr/>
          <p:nvPr/>
        </p:nvSpPr>
        <p:spPr>
          <a:xfrm>
            <a:off x="9342686" y="4908352"/>
            <a:ext cx="1752898" cy="466725"/>
          </a:xfrm>
          <a:prstGeom prst="roundRect">
            <a:avLst>
              <a:gd name="adj" fmla="val 20408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04611" y="4984552"/>
            <a:ext cx="1505248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Downstream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11209883" y="4984552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21" name="Shape 18"/>
          <p:cNvSpPr/>
          <p:nvPr/>
        </p:nvSpPr>
        <p:spPr>
          <a:xfrm>
            <a:off x="11455152" y="4908352"/>
            <a:ext cx="1610023" cy="466725"/>
          </a:xfrm>
          <a:prstGeom prst="roundRect">
            <a:avLst>
              <a:gd name="adj" fmla="val 20408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617077" y="4984552"/>
            <a:ext cx="1362373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</a:t>
            </a:r>
            <a:endParaRPr lang="en-US" sz="1875" dirty="0"/>
          </a:p>
        </p:txBody>
      </p:sp>
      <p:sp>
        <p:nvSpPr>
          <p:cNvPr id="23" name="Shape 20"/>
          <p:cNvSpPr/>
          <p:nvPr/>
        </p:nvSpPr>
        <p:spPr>
          <a:xfrm>
            <a:off x="1143000" y="5837039"/>
            <a:ext cx="13982700" cy="981075"/>
          </a:xfrm>
          <a:prstGeom prst="roundRect">
            <a:avLst>
              <a:gd name="adj" fmla="val 155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143000" y="6808589"/>
            <a:ext cx="139827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143000" y="5837039"/>
            <a:ext cx="139827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143000" y="5837039"/>
            <a:ext cx="28575" cy="98107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7" name="Shape 24"/>
          <p:cNvSpPr/>
          <p:nvPr/>
        </p:nvSpPr>
        <p:spPr>
          <a:xfrm>
            <a:off x="15116175" y="5837039"/>
            <a:ext cx="9525" cy="98107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1476375" y="6094214"/>
            <a:ext cx="1375448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Garbage in → garbage out. The </a:t>
            </a:r>
            <a:pPr algn="l" indent="0" marL="0">
              <a:buNone/>
            </a:pPr>
            <a:r>
              <a:rPr lang="en-US" sz="27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cheapest place </a:t>
            </a:r>
            <a:pPr algn="l" indent="0" marL="0">
              <a:buNone/>
            </a:pPr>
            <a:r>
              <a:rPr lang="en-US" sz="27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catch disaster.</a:t>
            </a:r>
            <a:endParaRPr lang="en-US" sz="2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082230"/>
            <a:ext cx="984885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FastQC: the metrics that matter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4099471"/>
            <a:ext cx="2854077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76375" y="4242346"/>
            <a:ext cx="24634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Per-base quality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244727" y="4099471"/>
            <a:ext cx="2705546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2852" y="4242346"/>
            <a:ext cx="231046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 content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238250" y="4861471"/>
            <a:ext cx="3448645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76375" y="5004346"/>
            <a:ext cx="30758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Overrepresented seqs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839295" y="4861471"/>
            <a:ext cx="2111127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7420" y="5004346"/>
            <a:ext cx="171107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Duplication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102822" y="4861471"/>
            <a:ext cx="773609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40947" y="5004346"/>
            <a:ext cx="37355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38250" y="5871121"/>
            <a:ext cx="8953500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38250" y="7195096"/>
            <a:ext cx="8953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38250" y="5871121"/>
            <a:ext cx="8953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238250" y="5871121"/>
            <a:ext cx="28575" cy="133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82225" y="5871121"/>
            <a:ext cx="9525" cy="1333500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571625" y="6109246"/>
            <a:ext cx="857440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/ Warn / Fail = a </a:t>
            </a:r>
            <a:pPr algn="l" indent="0" marL="0">
              <a:buNone/>
            </a:pPr>
            <a:r>
              <a:rPr lang="en-US" sz="24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prompt, not a verdict </a:t>
            </a:r>
            <a:pPr algn="l" indent="0" marL="0">
              <a:buNone/>
            </a:pPr>
            <a:r>
              <a:rPr lang="en-US" sz="247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2475" dirty="0"/>
          </a:p>
        </p:txBody>
      </p:sp>
      <p:sp>
        <p:nvSpPr>
          <p:cNvPr id="20" name="Shape 18"/>
          <p:cNvSpPr/>
          <p:nvPr/>
        </p:nvSpPr>
        <p:spPr>
          <a:xfrm>
            <a:off x="10763250" y="2470845"/>
            <a:ext cx="6305550" cy="4972050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9525">
            <a:solidFill>
              <a:srgbClr val="0F1A2E">
                <a:alpha val="12000"/>
              </a:srgbClr>
            </a:solidFill>
            <a:prstDash val="solid"/>
          </a:ln>
          <a:effectLst>
            <a:outerShdw sx="100000" sy="100000" kx="0" ky="0" algn="bl" rotWithShape="0" blurRad="209550" dist="57150" dir="5400000">
              <a:srgbClr val="0F1A2E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448925" y="7576245"/>
            <a:ext cx="691515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spc="27" kern="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FastQC — per-base quality across read position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2708523"/>
            <a:ext cx="8829675" cy="1313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MultiQC: aggregate &amp; spot the outlier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4612630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1552575" y="4441180"/>
            <a:ext cx="8601536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85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report </a:t>
            </a:r>
            <a:pPr algn="l" indent="0" marL="0">
              <a:lnSpc>
                <a:spcPct val="140000"/>
              </a:lnSpc>
              <a:buNone/>
            </a:pPr>
            <a:r>
              <a:rPr lang="en-US" sz="28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all samples, every step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1238250" y="5443091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1552575" y="5271641"/>
            <a:ext cx="7168083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8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</a:t>
            </a:r>
            <a:pPr algn="l" indent="0" marL="0">
              <a:lnSpc>
                <a:spcPct val="140000"/>
              </a:lnSpc>
              <a:buNone/>
            </a:pPr>
            <a:r>
              <a:rPr lang="en-US" sz="285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 view </a:t>
            </a:r>
            <a:pPr algn="l" indent="0" marL="0">
              <a:lnSpc>
                <a:spcPct val="140000"/>
              </a:lnSpc>
              <a:buNone/>
            </a:pPr>
            <a:r>
              <a:rPr lang="en-US" sz="28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the payoff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1238250" y="6330702"/>
            <a:ext cx="8572500" cy="1247775"/>
          </a:xfrm>
          <a:prstGeom prst="roundRect">
            <a:avLst>
              <a:gd name="adj" fmla="val 122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38250" y="7568952"/>
            <a:ext cx="8572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38250" y="6330702"/>
            <a:ext cx="8572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38250" y="6330702"/>
            <a:ext cx="28575" cy="124777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Shape 10"/>
          <p:cNvSpPr/>
          <p:nvPr/>
        </p:nvSpPr>
        <p:spPr>
          <a:xfrm>
            <a:off x="9801225" y="6330702"/>
            <a:ext cx="9525" cy="124777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571625" y="6568827"/>
            <a:ext cx="818197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Highest value, lowest effort tool in the course — run it </a:t>
            </a:r>
            <a:pPr algn="l" indent="0" marL="0">
              <a:buNone/>
            </a:pPr>
            <a:r>
              <a:rPr lang="en-US" sz="232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every batch step</a:t>
            </a:r>
            <a:pPr algn="l" indent="0" marL="0">
              <a:buNone/>
            </a:pPr>
            <a:r>
              <a:rPr lang="en-US" sz="232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2325" dirty="0"/>
          </a:p>
        </p:txBody>
      </p:sp>
      <p:sp>
        <p:nvSpPr>
          <p:cNvPr id="14" name="Shape 12"/>
          <p:cNvSpPr/>
          <p:nvPr/>
        </p:nvSpPr>
        <p:spPr>
          <a:xfrm>
            <a:off x="10382250" y="2470845"/>
            <a:ext cx="6686550" cy="4972050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9525">
            <a:solidFill>
              <a:srgbClr val="0F1A2E">
                <a:alpha val="12000"/>
              </a:srgbClr>
            </a:solidFill>
            <a:prstDash val="solid"/>
          </a:ln>
          <a:effectLst>
            <a:outerShdw sx="100000" sy="100000" kx="0" ky="0" algn="bl" rotWithShape="0" blurRad="209550" dist="57150" dir="5400000">
              <a:srgbClr val="0F1A2E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48875" y="7576245"/>
            <a:ext cx="733425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spc="27" kern="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MultiQC — one report aggregating every sample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2973884"/>
            <a:ext cx="1739265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Trimming tools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4030712"/>
            <a:ext cx="15811500" cy="977205"/>
          </a:xfrm>
          <a:prstGeom prst="roundRect">
            <a:avLst>
              <a:gd name="adj" fmla="val 15595"/>
            </a:avLst>
          </a:prstGeom>
          <a:solidFill>
            <a:srgbClr val="2DD4BF">
              <a:alpha val="7000"/>
            </a:srgbClr>
          </a:solidFill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1625" y="4338340"/>
            <a:ext cx="29337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fastp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505325" y="4306937"/>
            <a:ext cx="11669807" cy="462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273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all-in-one: adapters, quality, length + its own report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1238250" y="5179368"/>
            <a:ext cx="15811500" cy="981075"/>
          </a:xfrm>
          <a:prstGeom prst="roundRect">
            <a:avLst>
              <a:gd name="adj" fmla="val 15534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1625" y="5455593"/>
            <a:ext cx="29337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Trimmomatic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4505325" y="5476577"/>
            <a:ext cx="5652611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Explicit / legacy, fine control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238250" y="6331893"/>
            <a:ext cx="15811500" cy="981075"/>
          </a:xfrm>
          <a:prstGeom prst="roundRect">
            <a:avLst>
              <a:gd name="adj" fmla="val 15534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71625" y="6608118"/>
            <a:ext cx="29337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cutadapt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4505325" y="6629102"/>
            <a:ext cx="4923279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 / primer specialist</a:t>
            </a:r>
            <a:endParaRPr lang="en-US" sz="21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518892"/>
            <a:ext cx="1739265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rules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4766221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1552575" y="4613821"/>
            <a:ext cx="13128635" cy="565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</a:t>
            </a:r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 adapters; quality-trim </a:t>
            </a:r>
            <a:pPr algn="l" indent="0" marL="0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</a:t>
            </a:r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decayed 3′ tails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238250" y="5579566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1552575" y="5427166"/>
            <a:ext cx="14939278" cy="565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Don’t over-trim </a:t>
            </a:r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(hurts mappability); don’t hard-trim the 5′ wobble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238250" y="6392912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1552575" y="6240512"/>
            <a:ext cx="12223150" cy="565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Paired-end: </a:t>
            </a:r>
            <a:pPr algn="l" indent="0" marL="0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mates in sync </a:t>
            </a:r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use a pair-aware tool</a:t>
            </a:r>
            <a:endParaRPr lang="en-US" sz="2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2000">
                <a:srgbClr val="2DD4BF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669209"/>
            <a:ext cx="17392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 · DISCUSS FIRST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1238250" y="4088309"/>
            <a:ext cx="15716250" cy="624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40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ct val="114000"/>
              </a:lnSpc>
              <a:buNone/>
            </a:pPr>
            <a:r>
              <a:rPr lang="en-US" sz="4050" b="1" spc="-30" kern="0" dirty="0">
                <a:solidFill>
                  <a:srgbClr val="7C5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duplication FAIL </a:t>
            </a:r>
            <a:pPr algn="l" indent="0" marL="0">
              <a:lnSpc>
                <a:spcPct val="114000"/>
              </a:lnSpc>
              <a:buNone/>
            </a:pPr>
            <a:r>
              <a:rPr lang="en-US" sz="40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deep RNA-seq library — panic?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1238250" y="5093643"/>
            <a:ext cx="150114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8250" y="6608118"/>
            <a:ext cx="150114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38250" y="5093643"/>
            <a:ext cx="150114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38250" y="5093643"/>
            <a:ext cx="28575" cy="1524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16240125" y="5093643"/>
            <a:ext cx="9525" cy="1524000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609725" y="5388918"/>
            <a:ext cx="14737842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</a:t>
            </a:r>
            <a:pPr algn="l" indent="0" marL="0">
              <a:buNone/>
            </a:pPr>
            <a:r>
              <a:rPr lang="en-US" sz="27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duplication is </a:t>
            </a:r>
            <a:pPr algn="l" indent="0" marL="0">
              <a:buNone/>
            </a:pPr>
            <a:r>
              <a:rPr lang="en-US" sz="2700" i="1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</a:t>
            </a:r>
            <a:pPr algn="l" indent="0" marL="0">
              <a:buNone/>
            </a:pPr>
            <a:r>
              <a:rPr lang="en-US" sz="27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deep RNA-seq. Interpret QC </a:t>
            </a:r>
            <a:pPr algn="l" indent="0" marL="0">
              <a:buNone/>
            </a:pPr>
            <a:r>
              <a:rPr lang="en-US" sz="27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context </a:t>
            </a:r>
            <a:pPr algn="l" indent="0" marL="0">
              <a:buNone/>
            </a:pPr>
            <a:r>
              <a:rPr lang="en-US" sz="27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2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2000"/>
                </a:srgbClr>
              </a:gs>
              <a:gs pos="62000">
                <a:srgbClr val="2DD4BF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488680"/>
            <a:ext cx="17602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spc="552" kern="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2 · CORE PROCESSING</a:t>
            </a:r>
            <a:endParaRPr lang="en-US" sz="17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4014788"/>
            <a:ext cx="438150" cy="438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1650" y="3926830"/>
            <a:ext cx="4635733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processing —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462861" y="3945880"/>
            <a:ext cx="5703034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30" kern="0" dirty="0">
                <a:solidFill>
                  <a:srgbClr val="0E9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BRANCH POINT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1143000" y="4902845"/>
            <a:ext cx="1181249" cy="466725"/>
          </a:xfrm>
          <a:prstGeom prst="roundRect">
            <a:avLst>
              <a:gd name="adj" fmla="val 20408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04925" y="4979045"/>
            <a:ext cx="933599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2438549" y="4979045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10" name="Shape 7"/>
          <p:cNvSpPr/>
          <p:nvPr/>
        </p:nvSpPr>
        <p:spPr>
          <a:xfrm>
            <a:off x="2683818" y="4902845"/>
            <a:ext cx="609749" cy="466725"/>
          </a:xfrm>
          <a:prstGeom prst="roundRect">
            <a:avLst>
              <a:gd name="adj" fmla="val 20408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45743" y="4979045"/>
            <a:ext cx="362099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3407866" y="4979045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13" name="Shape 10"/>
          <p:cNvSpPr/>
          <p:nvPr/>
        </p:nvSpPr>
        <p:spPr>
          <a:xfrm>
            <a:off x="3653135" y="4902845"/>
            <a:ext cx="1752898" cy="466725"/>
          </a:xfrm>
          <a:prstGeom prst="roundRect">
            <a:avLst>
              <a:gd name="adj" fmla="val 20408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15060" y="4979045"/>
            <a:ext cx="1505248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5520333" y="4979045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16" name="Shape 13"/>
          <p:cNvSpPr/>
          <p:nvPr/>
        </p:nvSpPr>
        <p:spPr>
          <a:xfrm>
            <a:off x="5765602" y="4902845"/>
            <a:ext cx="3160365" cy="466725"/>
          </a:xfrm>
          <a:prstGeom prst="roundRect">
            <a:avLst>
              <a:gd name="adj" fmla="val 20408"/>
            </a:avLst>
          </a:prstGeom>
          <a:solidFill>
            <a:srgbClr val="2DD4BF"/>
          </a:solidFill>
          <a:ln w="9525">
            <a:solidFill>
              <a:srgbClr val="2DD4BF"/>
            </a:solidFill>
            <a:prstDash val="solid"/>
          </a:ln>
          <a:effectLst>
            <a:outerShdw sx="100000" sy="100000" kx="0" ky="0" algn="bl" rotWithShape="0" blurRad="247650" dist="50800" dir="16200000">
              <a:srgbClr val="2DD4BF">
                <a:alpha val="4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965627" y="4998095"/>
            <a:ext cx="2855126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7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⟮ ALIGN / ASSEMBLE ⟯</a:t>
            </a:r>
            <a:endParaRPr lang="en-US" sz="1875" dirty="0"/>
          </a:p>
        </p:txBody>
      </p:sp>
      <p:sp>
        <p:nvSpPr>
          <p:cNvPr id="18" name="Text 15"/>
          <p:cNvSpPr/>
          <p:nvPr/>
        </p:nvSpPr>
        <p:spPr>
          <a:xfrm>
            <a:off x="9040267" y="4979045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19" name="Shape 16"/>
          <p:cNvSpPr/>
          <p:nvPr/>
        </p:nvSpPr>
        <p:spPr>
          <a:xfrm>
            <a:off x="9285536" y="4902845"/>
            <a:ext cx="1752898" cy="466725"/>
          </a:xfrm>
          <a:prstGeom prst="roundRect">
            <a:avLst>
              <a:gd name="adj" fmla="val 20408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47461" y="4979045"/>
            <a:ext cx="1505248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Downstream</a:t>
            </a:r>
            <a:endParaRPr lang="en-US" sz="1875" dirty="0"/>
          </a:p>
        </p:txBody>
      </p:sp>
      <p:sp>
        <p:nvSpPr>
          <p:cNvPr id="21" name="Text 18"/>
          <p:cNvSpPr/>
          <p:nvPr/>
        </p:nvSpPr>
        <p:spPr>
          <a:xfrm>
            <a:off x="11152733" y="4979045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22" name="Shape 19"/>
          <p:cNvSpPr/>
          <p:nvPr/>
        </p:nvSpPr>
        <p:spPr>
          <a:xfrm>
            <a:off x="11398002" y="4902845"/>
            <a:ext cx="1610023" cy="466725"/>
          </a:xfrm>
          <a:prstGeom prst="roundRect">
            <a:avLst>
              <a:gd name="adj" fmla="val 20408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559927" y="4979045"/>
            <a:ext cx="1362373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</a:t>
            </a:r>
            <a:endParaRPr lang="en-US" sz="1875" dirty="0"/>
          </a:p>
        </p:txBody>
      </p:sp>
      <p:sp>
        <p:nvSpPr>
          <p:cNvPr id="24" name="Shape 21"/>
          <p:cNvSpPr/>
          <p:nvPr/>
        </p:nvSpPr>
        <p:spPr>
          <a:xfrm>
            <a:off x="1143000" y="5826770"/>
            <a:ext cx="1493520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143000" y="6788795"/>
            <a:ext cx="149352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143000" y="5826770"/>
            <a:ext cx="149352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143000" y="5826770"/>
            <a:ext cx="28575" cy="9715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8" name="Shape 25"/>
          <p:cNvSpPr/>
          <p:nvPr/>
        </p:nvSpPr>
        <p:spPr>
          <a:xfrm>
            <a:off x="16068675" y="5826770"/>
            <a:ext cx="9525" cy="971550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1476375" y="6083945"/>
            <a:ext cx="1473555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2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before = </a:t>
            </a:r>
            <a:pPr algn="l" indent="0" marL="0">
              <a:buNone/>
            </a:pPr>
            <a:r>
              <a:rPr lang="en-US" sz="262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</a:t>
            </a:r>
            <a:pPr algn="l" indent="0" marL="0">
              <a:buNone/>
            </a:pPr>
            <a:r>
              <a:rPr lang="en-US" sz="262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Everything after </a:t>
            </a:r>
            <a:pPr algn="l" indent="0" marL="0">
              <a:buNone/>
            </a:pPr>
            <a:r>
              <a:rPr lang="en-US" sz="262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diverges here</a:t>
            </a:r>
            <a:pPr algn="l" indent="0" marL="0">
              <a:buNone/>
            </a:pPr>
            <a:r>
              <a:rPr lang="en-US" sz="262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26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2649885"/>
            <a:ext cx="1739265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fork: do you already have a map?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238250" y="3568750"/>
            <a:ext cx="7762875" cy="2497336"/>
          </a:xfrm>
          <a:prstGeom prst="roundRect">
            <a:avLst>
              <a:gd name="adj" fmla="val 6865"/>
            </a:avLst>
          </a:prstGeom>
          <a:solidFill>
            <a:srgbClr val="2DD4BF">
              <a:alpha val="6000"/>
            </a:srgbClr>
          </a:solidFill>
          <a:ln w="9525">
            <a:solidFill>
              <a:srgbClr val="2DD4BF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90675" y="3883075"/>
            <a:ext cx="776382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E9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590675" y="4445050"/>
            <a:ext cx="7269766" cy="868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273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“How does my sample differ from a </a:t>
            </a:r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 genome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273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?”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90675" y="5427911"/>
            <a:ext cx="776382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BAM · jigsaw </a:t>
            </a:r>
            <a:pPr algn="l" indent="0" marL="0">
              <a:buNone/>
            </a:pPr>
            <a:r>
              <a:rPr lang="en-US" sz="1875" i="1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</a:t>
            </a:r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box picture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86875" y="3568750"/>
            <a:ext cx="7762875" cy="2497336"/>
          </a:xfrm>
          <a:prstGeom prst="roundRect">
            <a:avLst>
              <a:gd name="adj" fmla="val 6865"/>
            </a:avLst>
          </a:prstGeom>
          <a:solidFill>
            <a:srgbClr val="A78BFA">
              <a:alpha val="6000"/>
            </a:srgbClr>
          </a:solidFill>
          <a:ln w="9525">
            <a:solidFill>
              <a:srgbClr val="A78BFA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39300" y="3883075"/>
            <a:ext cx="776382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7C5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639300" y="4445050"/>
            <a:ext cx="7763828" cy="453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273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“What </a:t>
            </a:r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273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sequence I just got?”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39300" y="5012680"/>
            <a:ext cx="776382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FASTA · jigsaw </a:t>
            </a:r>
            <a:pPr algn="l" indent="0" marL="0">
              <a:buNone/>
            </a:pPr>
            <a:r>
              <a:rPr lang="en-US" sz="1875" i="1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</a:t>
            </a:r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box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238250" y="6370886"/>
            <a:ext cx="17392650" cy="504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32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decision rule = </a:t>
            </a:r>
            <a:pPr algn="l" indent="0" marL="0">
              <a:lnSpc>
                <a:spcPct val="145000"/>
              </a:lnSpc>
              <a:buNone/>
            </a:pPr>
            <a:r>
              <a:rPr lang="en-US" sz="232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does a trustworthy reference exist?</a:t>
            </a:r>
            <a:endParaRPr lang="en-US" sz="2325" dirty="0"/>
          </a:p>
        </p:txBody>
      </p:sp>
      <p:sp>
        <p:nvSpPr>
          <p:cNvPr id="13" name="Shape 11"/>
          <p:cNvSpPr/>
          <p:nvPr/>
        </p:nvSpPr>
        <p:spPr>
          <a:xfrm>
            <a:off x="1238250" y="7084665"/>
            <a:ext cx="3555355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38275" y="7208490"/>
            <a:ext cx="32619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4762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Variant calling </a:t>
            </a:r>
            <a:pPr algn="l" indent="0" marL="0">
              <a:buNone/>
            </a:pPr>
            <a:r>
              <a:rPr lang="en-US" sz="18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ALIGN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26955" y="7084665"/>
            <a:ext cx="3692426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6980" y="7208490"/>
            <a:ext cx="340314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4762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RNA-seq </a:t>
            </a:r>
            <a:pPr algn="l" indent="0" marL="0">
              <a:buNone/>
            </a:pPr>
            <a:r>
              <a:rPr lang="en-US" sz="18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ALIGN / pseudo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752731" y="7084665"/>
            <a:ext cx="4652814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52756" y="7208490"/>
            <a:ext cx="43923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4762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Phage / metagenomics </a:t>
            </a:r>
            <a:pPr algn="l" indent="0" marL="0">
              <a:buNone/>
            </a:pPr>
            <a:r>
              <a:rPr lang="en-US" sz="1800" b="1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ASSEMBLE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453705"/>
            <a:ext cx="1739265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Aligners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4510534"/>
            <a:ext cx="5130701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3525" y="4805809"/>
            <a:ext cx="499416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BWA-MEM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33525" y="5310634"/>
            <a:ext cx="499416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DNA / variants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6578501" y="4510534"/>
            <a:ext cx="513085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73776" y="4805809"/>
            <a:ext cx="49943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Bowtie2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873776" y="5310634"/>
            <a:ext cx="499433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 / ChIP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918900" y="4510534"/>
            <a:ext cx="513085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14175" y="4805809"/>
            <a:ext cx="49943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minimap2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214175" y="5310634"/>
            <a:ext cx="499433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reads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238250" y="6339334"/>
            <a:ext cx="17392650" cy="531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reference, </a:t>
            </a:r>
            <a:pPr algn="l" indent="0" marL="0">
              <a:lnSpc>
                <a:spcPct val="145000"/>
              </a:lnSpc>
              <a:buNone/>
            </a:pPr>
            <a:r>
              <a:rPr lang="en-US" sz="24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indexed</a:t>
            </a:r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documented.</a:t>
            </a:r>
            <a:endParaRPr lang="en-US" sz="24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2000">
                <a:srgbClr val="2DD4BF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376017"/>
            <a:ext cx="17392650" cy="634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→ usable BAM (samtools)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238250" y="4334470"/>
            <a:ext cx="15811500" cy="1338263"/>
          </a:xfrm>
          <a:prstGeom prst="roundRect">
            <a:avLst>
              <a:gd name="adj" fmla="val 11388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2575" y="4610695"/>
            <a:ext cx="15657195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bwa mem</a:t>
            </a:r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1F2A4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-t4 ref.fa R1.fq.gz R2.fq.gz </a:t>
            </a:r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1F2A4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samtools sort</a:t>
            </a:r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1F2A4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-o s.bam - </a:t>
            </a:r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samtools index</a:t>
            </a:r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1F2A4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s.bam </a:t>
            </a:r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1F2A4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samtools flagstat</a:t>
            </a:r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1F2A4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s.bam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238250" y="6015633"/>
            <a:ext cx="158115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8250" y="6901458"/>
            <a:ext cx="15811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38250" y="6015633"/>
            <a:ext cx="15811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38250" y="6015633"/>
            <a:ext cx="28575" cy="8953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Shape 8"/>
          <p:cNvSpPr/>
          <p:nvPr/>
        </p:nvSpPr>
        <p:spPr>
          <a:xfrm>
            <a:off x="17040225" y="6015633"/>
            <a:ext cx="9525" cy="895350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571625" y="6253758"/>
            <a:ext cx="1563814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</a:t>
            </a:r>
            <a:pPr algn="l" indent="0" marL="0">
              <a:buNone/>
            </a:pPr>
            <a:r>
              <a:rPr lang="en-US" sz="24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mapped </a:t>
            </a:r>
            <a:pPr algn="l" indent="0" marL="0">
              <a:buNone/>
            </a:pPr>
            <a:r>
              <a:rPr lang="en-US" sz="24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wrong ref / contamination / adapters.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453705"/>
            <a:ext cx="1739265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novo assembly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4510534"/>
            <a:ext cx="5130701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3525" y="4805809"/>
            <a:ext cx="499416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SPAdes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33525" y="5310634"/>
            <a:ext cx="499416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isolate / meta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6578501" y="4510534"/>
            <a:ext cx="513085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73776" y="4805809"/>
            <a:ext cx="49943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MEGAHIT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873776" y="5310634"/>
            <a:ext cx="499433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 metagenomes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918900" y="4510534"/>
            <a:ext cx="513085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14175" y="4805809"/>
            <a:ext cx="49943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Flye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214175" y="5310634"/>
            <a:ext cx="499433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read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238250" y="6339334"/>
            <a:ext cx="17392650" cy="531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Bruijn </a:t>
            </a:r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graphs (short) vs </a:t>
            </a:r>
            <a:pPr algn="l" indent="0" marL="0">
              <a:lnSpc>
                <a:spcPct val="145000"/>
              </a:lnSpc>
              <a:buNone/>
            </a:pPr>
            <a:r>
              <a:rPr lang="en-US" sz="24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overlap </a:t>
            </a:r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(long).</a:t>
            </a:r>
            <a:endParaRPr lang="en-US" sz="24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078361"/>
            <a:ext cx="10058400" cy="634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Judging an assembly: N50 &amp; friends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238250" y="4093964"/>
            <a:ext cx="2328267" cy="619125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76375" y="4236839"/>
            <a:ext cx="19282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contig count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3718917" y="4093964"/>
            <a:ext cx="2945606" cy="619125"/>
          </a:xfrm>
          <a:prstGeom prst="roundRect">
            <a:avLst>
              <a:gd name="adj" fmla="val 18462"/>
            </a:avLst>
          </a:prstGeom>
          <a:solidFill>
            <a:srgbClr val="2DD4BF">
              <a:alpha val="8000"/>
            </a:srgbClr>
          </a:solidFill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7042" y="4236839"/>
            <a:ext cx="255772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N50 (contiguity)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6816923" y="4093964"/>
            <a:ext cx="2328267" cy="619125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55048" y="4236839"/>
            <a:ext cx="19282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length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238250" y="4865489"/>
            <a:ext cx="4951958" cy="619125"/>
          </a:xfrm>
          <a:prstGeom prst="roundRect">
            <a:avLst>
              <a:gd name="adj" fmla="val 18462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76375" y="5008364"/>
            <a:ext cx="462426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completeness (BUSCO / CheckV)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238250" y="5884664"/>
            <a:ext cx="9144000" cy="1323975"/>
          </a:xfrm>
          <a:prstGeom prst="roundRect">
            <a:avLst>
              <a:gd name="adj" fmla="val 115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38250" y="7199114"/>
            <a:ext cx="91440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238250" y="5884664"/>
            <a:ext cx="91440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38250" y="5884664"/>
            <a:ext cx="28575" cy="132397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72725" y="5884664"/>
            <a:ext cx="9525" cy="132397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571625" y="6122789"/>
            <a:ext cx="877062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N50 rewards </a:t>
            </a:r>
            <a:pPr algn="l" indent="0" marL="0">
              <a:buNone/>
            </a:pPr>
            <a:r>
              <a:rPr lang="en-US" sz="24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length, not correctness </a:t>
            </a:r>
            <a:pPr algn="l" indent="0" marL="0">
              <a:buNone/>
            </a:pPr>
            <a:r>
              <a:rPr lang="en-US" sz="247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always pair it with completeness.</a:t>
            </a:r>
            <a:endParaRPr lang="en-US" sz="2475" dirty="0"/>
          </a:p>
        </p:txBody>
      </p:sp>
      <p:sp>
        <p:nvSpPr>
          <p:cNvPr id="18" name="Shape 16"/>
          <p:cNvSpPr/>
          <p:nvPr/>
        </p:nvSpPr>
        <p:spPr>
          <a:xfrm>
            <a:off x="10953750" y="2470845"/>
            <a:ext cx="6115050" cy="4972050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9525">
            <a:solidFill>
              <a:srgbClr val="0F1A2E">
                <a:alpha val="12000"/>
              </a:srgbClr>
            </a:solidFill>
            <a:prstDash val="solid"/>
          </a:ln>
          <a:effectLst>
            <a:outerShdw sx="100000" sy="100000" kx="0" ky="0" algn="bl" rotWithShape="0" blurRad="209550" dist="57150" dir="5400000">
              <a:srgbClr val="0F1A2E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648950" y="7576245"/>
            <a:ext cx="670560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spc="27" kern="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Assembly contiguity — Nx curve or contig sizes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2000">
                <a:srgbClr val="2DD4BF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498205"/>
            <a:ext cx="17602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spc="552" kern="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3A · VARIANT CALLING</a:t>
            </a:r>
            <a:endParaRPr lang="en-US" sz="17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4024313"/>
            <a:ext cx="438150" cy="438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1650" y="3936355"/>
            <a:ext cx="4045555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 calling —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889873" y="3955405"/>
            <a:ext cx="3667616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30" kern="0" dirty="0">
                <a:solidFill>
                  <a:srgbClr val="0E9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branch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143000" y="4988570"/>
            <a:ext cx="21922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E7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1400324" y="4988570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9" name="Shape 6"/>
          <p:cNvSpPr/>
          <p:nvPr/>
        </p:nvSpPr>
        <p:spPr>
          <a:xfrm>
            <a:off x="1645593" y="4912370"/>
            <a:ext cx="2038648" cy="466725"/>
          </a:xfrm>
          <a:prstGeom prst="roundRect">
            <a:avLst>
              <a:gd name="adj" fmla="val 20408"/>
            </a:avLst>
          </a:prstGeom>
          <a:solidFill>
            <a:srgbClr val="2DD4BF">
              <a:alpha val="10000"/>
            </a:srgbClr>
          </a:solidFill>
          <a:ln w="9525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07518" y="4988570"/>
            <a:ext cx="1790998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(ALIGN)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3798540" y="4988570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12" name="Shape 9"/>
          <p:cNvSpPr/>
          <p:nvPr/>
        </p:nvSpPr>
        <p:spPr>
          <a:xfrm>
            <a:off x="4043809" y="4912370"/>
            <a:ext cx="2543621" cy="466725"/>
          </a:xfrm>
          <a:prstGeom prst="roundRect">
            <a:avLst>
              <a:gd name="adj" fmla="val 20408"/>
            </a:avLst>
          </a:prstGeom>
          <a:solidFill>
            <a:srgbClr val="2DD4BF"/>
          </a:solidFill>
          <a:ln w="9525">
            <a:solidFill>
              <a:srgbClr val="2DD4BF"/>
            </a:solidFill>
            <a:prstDash val="solid"/>
          </a:ln>
          <a:effectLst>
            <a:outerShdw sx="100000" sy="100000" kx="0" ky="0" algn="bl" rotWithShape="0" blurRad="247650" dist="50800" dir="16200000">
              <a:srgbClr val="2DD4BF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243834" y="5007620"/>
            <a:ext cx="2219880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7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VARIANT CALLING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6701730" y="4988570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15" name="Shape 12"/>
          <p:cNvSpPr/>
          <p:nvPr/>
        </p:nvSpPr>
        <p:spPr>
          <a:xfrm>
            <a:off x="6946999" y="4912370"/>
            <a:ext cx="1610023" cy="466725"/>
          </a:xfrm>
          <a:prstGeom prst="roundRect">
            <a:avLst>
              <a:gd name="adj" fmla="val 20408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08924" y="4988570"/>
            <a:ext cx="1362373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</a:t>
            </a:r>
            <a:endParaRPr lang="en-US" sz="1875" dirty="0"/>
          </a:p>
        </p:txBody>
      </p:sp>
      <p:sp>
        <p:nvSpPr>
          <p:cNvPr id="17" name="Shape 14"/>
          <p:cNvSpPr/>
          <p:nvPr/>
        </p:nvSpPr>
        <p:spPr>
          <a:xfrm>
            <a:off x="1143000" y="5817245"/>
            <a:ext cx="1493520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143000" y="6779270"/>
            <a:ext cx="149352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143000" y="5817245"/>
            <a:ext cx="149352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43000" y="5817245"/>
            <a:ext cx="28575" cy="9715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1" name="Shape 18"/>
          <p:cNvSpPr/>
          <p:nvPr/>
        </p:nvSpPr>
        <p:spPr>
          <a:xfrm>
            <a:off x="16068675" y="5817245"/>
            <a:ext cx="9525" cy="971550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476375" y="6074420"/>
            <a:ext cx="1473555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2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BAM → </a:t>
            </a:r>
            <a:pPr algn="l" indent="0" marL="0">
              <a:buNone/>
            </a:pPr>
            <a:r>
              <a:rPr lang="en-US" sz="262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&amp; how </a:t>
            </a:r>
            <a:pPr algn="l" indent="0" marL="0">
              <a:buNone/>
            </a:pPr>
            <a:r>
              <a:rPr lang="en-US" sz="262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does the sample differ → </a:t>
            </a:r>
            <a:pPr algn="l" indent="0" marL="0">
              <a:buNone/>
            </a:pPr>
            <a:r>
              <a:rPr lang="en-US" sz="262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does it matter?</a:t>
            </a:r>
            <a:endParaRPr lang="en-US" sz="26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707011"/>
            <a:ext cx="17602200" cy="634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GATK Best Practices arc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143000" y="4722614"/>
            <a:ext cx="773609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3975" y="4846439"/>
            <a:ext cx="48785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30909" y="4898827"/>
            <a:ext cx="1599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28999" y="4722614"/>
            <a:ext cx="2282577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9974" y="4846439"/>
            <a:ext cx="19968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MarkDuplicates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25876" y="4898827"/>
            <a:ext cx="1599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23966" y="4722614"/>
            <a:ext cx="910679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4941" y="4846439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BQSR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48945" y="4898827"/>
            <a:ext cx="1599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47036" y="4722614"/>
            <a:ext cx="2419796" cy="552450"/>
          </a:xfrm>
          <a:prstGeom prst="roundRect">
            <a:avLst>
              <a:gd name="adj" fmla="val 17241"/>
            </a:avLst>
          </a:prstGeom>
          <a:solidFill>
            <a:srgbClr val="2DD4BF">
              <a:alpha val="8000"/>
            </a:srgbClr>
          </a:solidFill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8011" y="4846439"/>
            <a:ext cx="213404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HaplotypeCaller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81132" y="4898827"/>
            <a:ext cx="1599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79222" y="4722614"/>
            <a:ext cx="2556867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0197" y="4846439"/>
            <a:ext cx="22716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joint genotyping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50389" y="4898827"/>
            <a:ext cx="1599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648480" y="4722614"/>
            <a:ext cx="1185118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29455" y="4846439"/>
            <a:ext cx="8993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947898" y="4898827"/>
            <a:ext cx="1599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145988" y="4722614"/>
            <a:ext cx="773609" cy="552450"/>
          </a:xfrm>
          <a:prstGeom prst="roundRect">
            <a:avLst>
              <a:gd name="adj" fmla="val 17241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326963" y="4846439"/>
            <a:ext cx="48785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VCF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43000" y="5675114"/>
            <a:ext cx="16002000" cy="904875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43000" y="6570464"/>
            <a:ext cx="160020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43000" y="5675114"/>
            <a:ext cx="160020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43000" y="5675114"/>
            <a:ext cx="28575" cy="90487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8" name="Shape 26"/>
          <p:cNvSpPr/>
          <p:nvPr/>
        </p:nvSpPr>
        <p:spPr>
          <a:xfrm>
            <a:off x="17135475" y="5675114"/>
            <a:ext cx="9525" cy="90487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476375" y="5913239"/>
            <a:ext cx="1583436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step kills a </a:t>
            </a:r>
            <a:pPr algn="l" indent="0" marL="0">
              <a:buNone/>
            </a:pPr>
            <a:r>
              <a:rPr lang="en-US" sz="24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specific </a:t>
            </a:r>
            <a:pPr algn="l" indent="0" marL="0">
              <a:buNone/>
            </a:pPr>
            <a:r>
              <a:rPr lang="en-US" sz="247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false-call source.</a:t>
            </a:r>
            <a:endParaRPr lang="en-US" sz="24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061543"/>
            <a:ext cx="1739265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callers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4118372"/>
            <a:ext cx="15811500" cy="916186"/>
          </a:xfrm>
          <a:prstGeom prst="roundRect">
            <a:avLst>
              <a:gd name="adj" fmla="val 16634"/>
            </a:avLst>
          </a:prstGeom>
          <a:solidFill>
            <a:srgbClr val="2DD4BF">
              <a:alpha val="7000"/>
            </a:srgbClr>
          </a:solidFill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1625" y="4400252"/>
            <a:ext cx="3143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bcftools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695825" y="4375547"/>
            <a:ext cx="6161916" cy="439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73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 / bacterial —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in the lab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238250" y="5206008"/>
            <a:ext cx="15811500" cy="923925"/>
          </a:xfrm>
          <a:prstGeom prst="roundRect">
            <a:avLst>
              <a:gd name="adj" fmla="val 16495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1625" y="5463183"/>
            <a:ext cx="31432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DeepVariant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95825" y="5481340"/>
            <a:ext cx="6161916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Deep-learning, strong on long reads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38250" y="6301383"/>
            <a:ext cx="15811500" cy="923925"/>
          </a:xfrm>
          <a:prstGeom prst="roundRect">
            <a:avLst>
              <a:gd name="adj" fmla="val 16495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71625" y="6558558"/>
            <a:ext cx="31432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Mutect2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95825" y="6576715"/>
            <a:ext cx="4225216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Somatic (tumor / normal)</a:t>
            </a:r>
            <a:endParaRPr lang="en-US" sz="2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2000">
                <a:srgbClr val="2DD4BF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3269903"/>
            <a:ext cx="984885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VCF anatomy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249043"/>
            <a:ext cx="8953500" cy="1215330"/>
          </a:xfrm>
          <a:prstGeom prst="roundRect">
            <a:avLst>
              <a:gd name="adj" fmla="val 12540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3025" y="4506218"/>
            <a:ext cx="8631555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725" dirty="0">
                <a:solidFill>
                  <a:srgbClr val="6E7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 POS ID REF ALT QUAL FILTER INFO   FORMAT   sample </a:t>
            </a:r>
            <a:pPr algn="l" indent="0" marL="0">
              <a:lnSpc>
                <a:spcPct val="160000"/>
              </a:lnSpc>
              <a:buNone/>
            </a:pPr>
            <a:r>
              <a:rPr lang="en-US" sz="1725" dirty="0">
                <a:solidFill>
                  <a:srgbClr val="1F2A4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chr7  ...  .  G   A   </a:t>
            </a:r>
            <a:pPr algn="l" indent="0" marL="0">
              <a:lnSpc>
                <a:spcPct val="160000"/>
              </a:lnSpc>
              <a:buNone/>
            </a:pPr>
            <a:r>
              <a:rPr lang="en-US" sz="1725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312</a:t>
            </a:r>
            <a:pPr algn="l" indent="0" marL="0">
              <a:lnSpc>
                <a:spcPct val="160000"/>
              </a:lnSpc>
              <a:buNone/>
            </a:pPr>
            <a:r>
              <a:rPr lang="en-US" sz="1725" dirty="0">
                <a:solidFill>
                  <a:srgbClr val="1F2A4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60000"/>
              </a:lnSpc>
              <a:buNone/>
            </a:pPr>
            <a:r>
              <a:rPr lang="en-US" sz="1725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pPr algn="l" indent="0" marL="0">
              <a:lnSpc>
                <a:spcPct val="160000"/>
              </a:lnSpc>
              <a:buNone/>
            </a:pPr>
            <a:r>
              <a:rPr lang="en-US" sz="1725" dirty="0">
                <a:solidFill>
                  <a:srgbClr val="1F2A4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DP=54  GT:AD:DP </a:t>
            </a:r>
            <a:pPr algn="l" indent="0" marL="0">
              <a:lnSpc>
                <a:spcPct val="160000"/>
              </a:lnSpc>
              <a:buNone/>
            </a:pPr>
            <a:r>
              <a:rPr lang="en-US" sz="1725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0/1</a:t>
            </a:r>
            <a:pPr algn="l" indent="0" marL="0">
              <a:lnSpc>
                <a:spcPct val="160000"/>
              </a:lnSpc>
              <a:buNone/>
            </a:pPr>
            <a:r>
              <a:rPr lang="en-US" sz="1725" dirty="0">
                <a:solidFill>
                  <a:srgbClr val="1F2A4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:27,27:54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1047750" y="5788223"/>
            <a:ext cx="8953500" cy="1228725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47750" y="7007423"/>
            <a:ext cx="8953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5788223"/>
            <a:ext cx="8953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5788223"/>
            <a:ext cx="28575" cy="122872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Shape 8"/>
          <p:cNvSpPr/>
          <p:nvPr/>
        </p:nvSpPr>
        <p:spPr>
          <a:xfrm>
            <a:off x="9991725" y="5788223"/>
            <a:ext cx="9525" cy="12287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381125" y="6026348"/>
            <a:ext cx="8574405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 </a:t>
            </a:r>
            <a:pPr algn="l" indent="0" marL="0">
              <a:buNone/>
            </a:pPr>
            <a:r>
              <a:rPr lang="en-US" sz="225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0/0 hom-ref · 0/1 het · 1/1 hom-alt — DP / AD / GQ are the trust signals.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0572750" y="2375595"/>
            <a:ext cx="6686550" cy="5162550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 w="9525">
            <a:solidFill>
              <a:srgbClr val="0F1A2E">
                <a:alpha val="12000"/>
              </a:srgbClr>
            </a:solidFill>
            <a:prstDash val="solid"/>
          </a:ln>
          <a:effectLst>
            <a:outerShdw sx="100000" sy="100000" kx="0" ky="0" algn="bl" rotWithShape="0" blurRad="209550" dist="57150" dir="5400000">
              <a:srgbClr val="0F1A2E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239375" y="7671495"/>
            <a:ext cx="733425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spc="27" kern="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IGV — reads piled at the variant locus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616523"/>
            <a:ext cx="17392650" cy="634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Annotation: coordinate → consequence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238250" y="4632127"/>
            <a:ext cx="1066949" cy="657225"/>
          </a:xfrm>
          <a:prstGeom prst="roundRect">
            <a:avLst>
              <a:gd name="adj" fmla="val 17391"/>
            </a:avLst>
          </a:prstGeom>
          <a:solidFill>
            <a:srgbClr val="2DD4BF">
              <a:alpha val="8000"/>
            </a:srgbClr>
          </a:solidFill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14475" y="4775002"/>
            <a:ext cx="59069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VEP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2457599" y="4632127"/>
            <a:ext cx="1581448" cy="657225"/>
          </a:xfrm>
          <a:prstGeom prst="roundRect">
            <a:avLst>
              <a:gd name="adj" fmla="val 17391"/>
            </a:avLst>
          </a:prstGeom>
          <a:solidFill>
            <a:srgbClr val="2DD4BF">
              <a:alpha val="8000"/>
            </a:srgbClr>
          </a:solidFill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33824" y="4775002"/>
            <a:ext cx="11051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SnpEff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4191446" y="4632127"/>
            <a:ext cx="1752898" cy="657225"/>
          </a:xfrm>
          <a:prstGeom prst="roundRect">
            <a:avLst>
              <a:gd name="adj" fmla="val 17391"/>
            </a:avLst>
          </a:prstGeom>
          <a:solidFill>
            <a:srgbClr val="2DD4BF">
              <a:alpha val="8000"/>
            </a:srgbClr>
          </a:solidFill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7671" y="4775002"/>
            <a:ext cx="12766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ANNOVAR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38250" y="5689402"/>
            <a:ext cx="14716125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 · consequence · </a:t>
            </a:r>
            <a:pPr algn="l" indent="0" marL="0">
              <a:lnSpc>
                <a:spcPct val="150000"/>
              </a:lnSpc>
              <a:buNone/>
            </a:pPr>
            <a:r>
              <a:rPr lang="en-US" sz="24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gnomAD frequency </a:t>
            </a:r>
            <a:pPr algn="l" indent="0" marL="0">
              <a:lnSpc>
                <a:spcPct val="150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in-silico scores (CADD, SIFT, SpliceAI).</a:t>
            </a:r>
            <a:endParaRPr lang="en-US" sz="24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2000">
                <a:srgbClr val="2DD4BF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222724"/>
            <a:ext cx="17602200" cy="593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interpretation: ACMG/AMP + ClinVar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143000" y="4168676"/>
            <a:ext cx="1657648" cy="438150"/>
          </a:xfrm>
          <a:prstGeom prst="roundRect">
            <a:avLst>
              <a:gd name="adj" fmla="val 17391"/>
            </a:avLst>
          </a:prstGeom>
          <a:solidFill>
            <a:srgbClr val="E0556B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4263926"/>
            <a:ext cx="13909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A05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Pathogenic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2895898" y="4149626"/>
            <a:ext cx="1920627" cy="476250"/>
          </a:xfrm>
          <a:prstGeom prst="roundRect">
            <a:avLst>
              <a:gd name="adj" fmla="val 16000"/>
            </a:avLst>
          </a:prstGeom>
          <a:solidFill>
            <a:srgbClr val="E0556B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067348" y="4244876"/>
            <a:ext cx="16539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Likely Path.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4911775" y="4140101"/>
            <a:ext cx="756493" cy="495300"/>
          </a:xfrm>
          <a:prstGeom prst="roundRect">
            <a:avLst>
              <a:gd name="adj" fmla="val 15385"/>
            </a:avLst>
          </a:prstGeom>
          <a:solidFill>
            <a:srgbClr val="0F1A2E">
              <a:alpha val="5000"/>
            </a:srgbClr>
          </a:solidFill>
          <a:ln w="9525">
            <a:solidFill>
              <a:srgbClr val="0F1A2E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92750" y="4244876"/>
            <a:ext cx="4707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VUS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5763518" y="4149626"/>
            <a:ext cx="2052042" cy="476250"/>
          </a:xfrm>
          <a:prstGeom prst="roundRect">
            <a:avLst>
              <a:gd name="adj" fmla="val 16000"/>
            </a:avLst>
          </a:prstGeom>
          <a:solidFill>
            <a:srgbClr val="2DD4BF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34968" y="4244876"/>
            <a:ext cx="17853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Likely Benign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7910810" y="4168676"/>
            <a:ext cx="1131838" cy="438150"/>
          </a:xfrm>
          <a:prstGeom prst="roundRect">
            <a:avLst>
              <a:gd name="adj" fmla="val 17391"/>
            </a:avLst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8082260" y="4263926"/>
            <a:ext cx="8651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7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Benign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1143000" y="5092601"/>
            <a:ext cx="95250" cy="9525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1409700" y="4959251"/>
            <a:ext cx="905403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criteria: PVS1 / PS / PM2 / PP3 / BA1 …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143000" y="5664101"/>
            <a:ext cx="95250" cy="9525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1409700" y="5530751"/>
            <a:ext cx="1226096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ClinVar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prior interpretations;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VUS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the honest common verdict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143000" y="6245126"/>
            <a:ext cx="14420850" cy="819150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43000" y="7054751"/>
            <a:ext cx="1442085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6245126"/>
            <a:ext cx="1442085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6245126"/>
            <a:ext cx="28575" cy="8191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2" name="Shape 20"/>
          <p:cNvSpPr/>
          <p:nvPr/>
        </p:nvSpPr>
        <p:spPr>
          <a:xfrm>
            <a:off x="15554325" y="6245126"/>
            <a:ext cx="9525" cy="819150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457325" y="6464201"/>
            <a:ext cx="1424387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statistical call </a:t>
            </a:r>
            <a:pPr algn="l" indent="0" marL="0">
              <a:buNone/>
            </a:pPr>
            <a:r>
              <a:rPr lang="en-US" sz="225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≠ a diagnosis</a:t>
            </a:r>
            <a:pPr algn="l" indent="0" marL="0">
              <a:buNone/>
            </a:pPr>
            <a:r>
              <a:rPr lang="en-US" sz="225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Be conservative; state uncertainty.</a:t>
            </a:r>
            <a:endParaRPr lang="en-US" sz="2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2000">
                <a:srgbClr val="2DD4BF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317230"/>
            <a:ext cx="17602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spc="552" kern="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3B · RNA-SEQ</a:t>
            </a:r>
            <a:endParaRPr lang="en-US" sz="17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3843338"/>
            <a:ext cx="438150" cy="438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1650" y="3755380"/>
            <a:ext cx="289555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—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773364" y="3774430"/>
            <a:ext cx="5526063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30" kern="0" dirty="0">
                <a:solidFill>
                  <a:srgbClr val="0E9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/ pseudo-align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143000" y="4807595"/>
            <a:ext cx="20776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E7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1388864" y="4807595"/>
            <a:ext cx="196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725" dirty="0"/>
          </a:p>
        </p:txBody>
      </p:sp>
      <p:sp>
        <p:nvSpPr>
          <p:cNvPr id="9" name="Shape 6"/>
          <p:cNvSpPr/>
          <p:nvPr/>
        </p:nvSpPr>
        <p:spPr>
          <a:xfrm>
            <a:off x="1623715" y="4731395"/>
            <a:ext cx="3084761" cy="438150"/>
          </a:xfrm>
          <a:prstGeom prst="roundRect">
            <a:avLst>
              <a:gd name="adj" fmla="val 21739"/>
            </a:avLst>
          </a:prstGeom>
          <a:solidFill>
            <a:srgbClr val="2DD4BF">
              <a:alpha val="10000"/>
            </a:srgbClr>
          </a:solidFill>
          <a:ln w="9525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85640" y="4807595"/>
            <a:ext cx="285345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(ALIGN / pseudo)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4822775" y="4807595"/>
            <a:ext cx="196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725" dirty="0"/>
          </a:p>
        </p:txBody>
      </p:sp>
      <p:sp>
        <p:nvSpPr>
          <p:cNvPr id="12" name="Shape 9"/>
          <p:cNvSpPr/>
          <p:nvPr/>
        </p:nvSpPr>
        <p:spPr>
          <a:xfrm>
            <a:off x="5057626" y="4731395"/>
            <a:ext cx="1451818" cy="438150"/>
          </a:xfrm>
          <a:prstGeom prst="roundRect">
            <a:avLst>
              <a:gd name="adj" fmla="val 21739"/>
            </a:avLst>
          </a:prstGeom>
          <a:solidFill>
            <a:srgbClr val="2DD4BF"/>
          </a:solidFill>
          <a:ln w="9525">
            <a:solidFill>
              <a:srgbClr val="2DD4BF"/>
            </a:solidFill>
            <a:prstDash val="solid"/>
          </a:ln>
          <a:effectLst>
            <a:outerShdw sx="100000" sy="100000" kx="0" ky="0" algn="bl" rotWithShape="0" blurRad="247650" dist="50800" dir="16200000">
              <a:srgbClr val="2DD4BF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257651" y="4826645"/>
            <a:ext cx="1127968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7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QUANTIFY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6623745" y="4807595"/>
            <a:ext cx="196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725" dirty="0"/>
          </a:p>
        </p:txBody>
      </p:sp>
      <p:sp>
        <p:nvSpPr>
          <p:cNvPr id="15" name="Shape 12"/>
          <p:cNvSpPr/>
          <p:nvPr/>
        </p:nvSpPr>
        <p:spPr>
          <a:xfrm>
            <a:off x="6858595" y="4731395"/>
            <a:ext cx="2427387" cy="438150"/>
          </a:xfrm>
          <a:prstGeom prst="roundRect">
            <a:avLst>
              <a:gd name="adj" fmla="val 21739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20520" y="4807595"/>
            <a:ext cx="2179737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Diff. expression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9400282" y="4807595"/>
            <a:ext cx="196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725" dirty="0"/>
          </a:p>
        </p:txBody>
      </p:sp>
      <p:sp>
        <p:nvSpPr>
          <p:cNvPr id="18" name="Shape 15"/>
          <p:cNvSpPr/>
          <p:nvPr/>
        </p:nvSpPr>
        <p:spPr>
          <a:xfrm>
            <a:off x="9635133" y="4731395"/>
            <a:ext cx="1507182" cy="438150"/>
          </a:xfrm>
          <a:prstGeom prst="roundRect">
            <a:avLst>
              <a:gd name="adj" fmla="val 21739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97058" y="4807595"/>
            <a:ext cx="1259532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</a:t>
            </a:r>
            <a:endParaRPr lang="en-US" sz="1725" dirty="0"/>
          </a:p>
        </p:txBody>
      </p:sp>
      <p:sp>
        <p:nvSpPr>
          <p:cNvPr id="20" name="Shape 17"/>
          <p:cNvSpPr/>
          <p:nvPr/>
        </p:nvSpPr>
        <p:spPr>
          <a:xfrm>
            <a:off x="1143000" y="5607695"/>
            <a:ext cx="15411450" cy="1362075"/>
          </a:xfrm>
          <a:prstGeom prst="roundRect">
            <a:avLst>
              <a:gd name="adj" fmla="val 111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43000" y="6960245"/>
            <a:ext cx="1541145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43000" y="5607695"/>
            <a:ext cx="1541145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143000" y="5607695"/>
            <a:ext cx="28575" cy="136207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4" name="Shape 21"/>
          <p:cNvSpPr/>
          <p:nvPr/>
        </p:nvSpPr>
        <p:spPr>
          <a:xfrm>
            <a:off x="16544925" y="5607695"/>
            <a:ext cx="9525" cy="136207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1476375" y="5864870"/>
            <a:ext cx="15226094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 how much each gene is expressed. The twist: </a:t>
            </a:r>
            <a:pPr algn="l" indent="0" marL="0">
              <a:buNone/>
            </a:pPr>
            <a:r>
              <a:rPr lang="en-US" sz="24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introns removed </a:t>
            </a:r>
            <a:pPr algn="l" indent="0" marL="0">
              <a:buNone/>
            </a:pPr>
            <a:r>
              <a:rPr lang="en-US" sz="247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reads span junctions.</a:t>
            </a:r>
            <a:endParaRPr lang="en-US" sz="24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460105"/>
            <a:ext cx="1739265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routes to counts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4516934"/>
            <a:ext cx="7762875" cy="2309813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6817221"/>
            <a:ext cx="7762875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38250" y="4516934"/>
            <a:ext cx="7762875" cy="28575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Shape 5"/>
          <p:cNvSpPr/>
          <p:nvPr/>
        </p:nvSpPr>
        <p:spPr>
          <a:xfrm>
            <a:off x="1238250" y="4516934"/>
            <a:ext cx="9525" cy="2309813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991600" y="4516934"/>
            <a:ext cx="9525" cy="2309813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590675" y="4869359"/>
            <a:ext cx="776382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Spliced alignment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90675" y="5336084"/>
            <a:ext cx="776382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 / HISAT2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590675" y="5802809"/>
            <a:ext cx="7269766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featureCounts / HTSeq Need alignments (isoforms)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86875" y="4516934"/>
            <a:ext cx="7762875" cy="2309813"/>
          </a:xfrm>
          <a:prstGeom prst="roundRect">
            <a:avLst>
              <a:gd name="adj" fmla="val 7423"/>
            </a:avLst>
          </a:prstGeom>
          <a:solidFill>
            <a:srgbClr val="2DD4BF">
              <a:alpha val="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286875" y="6817221"/>
            <a:ext cx="7762875" cy="9525"/>
          </a:xfrm>
          <a:prstGeom prst="rect">
            <a:avLst/>
          </a:prstGeom>
          <a:solidFill>
            <a:srgbClr val="2DD4BF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286875" y="4516934"/>
            <a:ext cx="7762875" cy="2857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5" name="Shape 13"/>
          <p:cNvSpPr/>
          <p:nvPr/>
        </p:nvSpPr>
        <p:spPr>
          <a:xfrm>
            <a:off x="9286875" y="4516934"/>
            <a:ext cx="9525" cy="2309813"/>
          </a:xfrm>
          <a:prstGeom prst="rect">
            <a:avLst/>
          </a:prstGeom>
          <a:solidFill>
            <a:srgbClr val="2DD4BF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040225" y="4516934"/>
            <a:ext cx="9525" cy="2309813"/>
          </a:xfrm>
          <a:prstGeom prst="rect">
            <a:avLst/>
          </a:prstGeom>
          <a:solidFill>
            <a:srgbClr val="2DD4BF">
              <a:alpha val="2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639300" y="4869359"/>
            <a:ext cx="776382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Pseudo-alignment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639300" y="5336084"/>
            <a:ext cx="776382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Salmon / kallisto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9639300" y="5802809"/>
            <a:ext cx="7763828" cy="411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tximport — the </a:t>
            </a:r>
            <a:pPr algn="l" indent="0" marL="0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default</a:t>
            </a:r>
            <a:endParaRPr lang="en-US" sz="18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2000">
                <a:srgbClr val="2DD4BF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153966"/>
            <a:ext cx="1739265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count matrix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4153644"/>
            <a:ext cx="15811500" cy="1740991"/>
          </a:xfrm>
          <a:prstGeom prst="roundRect">
            <a:avLst>
              <a:gd name="adj" fmla="val 8754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2575" y="4429869"/>
            <a:ext cx="15657195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6E7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ctrl_1 ctrl_2 treat_1 treat_2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1F2A4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GENE_A   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412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1F2A4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388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1F2A4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820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1F2A4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795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1F2A44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GENE_B      2      0       3       1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238250" y="6237536"/>
            <a:ext cx="158115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8250" y="7123361"/>
            <a:ext cx="15811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38250" y="6237536"/>
            <a:ext cx="15811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38250" y="6237536"/>
            <a:ext cx="28575" cy="8953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Shape 8"/>
          <p:cNvSpPr/>
          <p:nvPr/>
        </p:nvSpPr>
        <p:spPr>
          <a:xfrm>
            <a:off x="17040225" y="6237536"/>
            <a:ext cx="9525" cy="895350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571625" y="6475661"/>
            <a:ext cx="1563814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Genes × samples — </a:t>
            </a:r>
            <a:pPr algn="l" indent="0" marL="0">
              <a:buNone/>
            </a:pPr>
            <a:r>
              <a:rPr lang="en-US" sz="24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 low-count genes </a:t>
            </a:r>
            <a:pPr algn="l" indent="0" marL="0">
              <a:buNone/>
            </a:pPr>
            <a:r>
              <a:rPr lang="en-US" sz="24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testing.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251002"/>
            <a:ext cx="1739265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Normalization: raw counts lie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4392067"/>
            <a:ext cx="95250" cy="9525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4249192"/>
            <a:ext cx="8299653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 size · gene length · </a:t>
            </a:r>
            <a:pPr algn="l" indent="0" marL="0">
              <a:lnSpc>
                <a:spcPct val="140000"/>
              </a:lnSpc>
              <a:buNone/>
            </a:pPr>
            <a:r>
              <a:rPr lang="en-US" sz="24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composition</a:t>
            </a:r>
            <a:endParaRPr lang="en-US" sz="2475" dirty="0"/>
          </a:p>
        </p:txBody>
      </p:sp>
      <p:sp>
        <p:nvSpPr>
          <p:cNvPr id="6" name="Shape 4"/>
          <p:cNvSpPr/>
          <p:nvPr/>
        </p:nvSpPr>
        <p:spPr>
          <a:xfrm>
            <a:off x="1238250" y="5089178"/>
            <a:ext cx="95250" cy="9525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4946303"/>
            <a:ext cx="14912340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CPM / TPM (within-sample) vs DESeq2 size factors / edgeR TMM (across-sample DE)</a:t>
            </a:r>
            <a:endParaRPr lang="en-US" sz="2475" dirty="0"/>
          </a:p>
        </p:txBody>
      </p:sp>
      <p:sp>
        <p:nvSpPr>
          <p:cNvPr id="8" name="Shape 6"/>
          <p:cNvSpPr/>
          <p:nvPr/>
        </p:nvSpPr>
        <p:spPr>
          <a:xfrm>
            <a:off x="1238250" y="6130975"/>
            <a:ext cx="15811500" cy="904875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38250" y="7026325"/>
            <a:ext cx="15811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38250" y="6130975"/>
            <a:ext cx="15811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38250" y="6130975"/>
            <a:ext cx="28575" cy="90487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Shape 10"/>
          <p:cNvSpPr/>
          <p:nvPr/>
        </p:nvSpPr>
        <p:spPr>
          <a:xfrm>
            <a:off x="17040225" y="6130975"/>
            <a:ext cx="9525" cy="90487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571625" y="6369100"/>
            <a:ext cx="156381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Don’t feed TPM to DESeq2 </a:t>
            </a:r>
            <a:pPr algn="l" indent="0" marL="0">
              <a:buNone/>
            </a:pPr>
            <a:r>
              <a:rPr lang="en-US" sz="247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it wants raw counts.</a:t>
            </a:r>
            <a:endParaRPr lang="en-US" sz="247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591669"/>
            <a:ext cx="1739265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expression (DESeq2 / edgeR)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238250" y="4567684"/>
            <a:ext cx="2114848" cy="561975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8275" y="4691509"/>
            <a:ext cx="179099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factors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3467398" y="4691509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3712666" y="4567684"/>
            <a:ext cx="1829098" cy="561975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12691" y="4691509"/>
            <a:ext cx="15052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dispersion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5656064" y="4691509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5901333" y="4567684"/>
            <a:ext cx="828824" cy="561975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01358" y="4691509"/>
            <a:ext cx="50497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GLM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6844457" y="4691509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7089725" y="4567684"/>
            <a:ext cx="971699" cy="561975"/>
          </a:xfrm>
          <a:prstGeom prst="roundRect">
            <a:avLst>
              <a:gd name="adj" fmla="val 16949"/>
            </a:avLst>
          </a:prstGeom>
          <a:solidFill>
            <a:srgbClr val="2DD4BF">
              <a:alpha val="8000"/>
            </a:srgbClr>
          </a:solidFill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9750" y="4691509"/>
            <a:ext cx="64784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238250" y="5653534"/>
            <a:ext cx="95250" cy="9525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5510659"/>
            <a:ext cx="4772338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Negative binomial </a:t>
            </a:r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2475" dirty="0"/>
          </a:p>
        </p:txBody>
      </p:sp>
      <p:sp>
        <p:nvSpPr>
          <p:cNvPr id="17" name="Shape 15"/>
          <p:cNvSpPr/>
          <p:nvPr/>
        </p:nvSpPr>
        <p:spPr>
          <a:xfrm>
            <a:off x="1238250" y="6350645"/>
            <a:ext cx="95250" cy="9525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1524000" y="6207770"/>
            <a:ext cx="11566341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</a:t>
            </a:r>
            <a:pPr algn="l" indent="0" marL="0">
              <a:lnSpc>
                <a:spcPct val="140000"/>
              </a:lnSpc>
              <a:buNone/>
            </a:pPr>
            <a:r>
              <a:rPr lang="en-US" sz="24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log2FC </a:t>
            </a:r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</a:t>
            </a:r>
            <a:pPr algn="l" indent="0" marL="0">
              <a:lnSpc>
                <a:spcPct val="140000"/>
              </a:lnSpc>
              <a:buNone/>
            </a:pPr>
            <a:r>
              <a:rPr lang="en-US" sz="24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padj</a:t>
            </a:r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ct val="140000"/>
              </a:lnSpc>
              <a:buNone/>
            </a:pPr>
            <a:r>
              <a:rPr lang="en-US" sz="2104" dirty="0">
                <a:solidFill>
                  <a:srgbClr val="0E9B86"/>
                </a:solidFill>
                <a:highlight>
                  <a:srgbClr val="F3F4F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lfcShrink </a:t>
            </a:r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stable effect sizes</a:t>
            </a:r>
            <a:endParaRPr lang="en-US" sz="247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2000">
                <a:srgbClr val="2DD4BF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2817614"/>
            <a:ext cx="9848850" cy="634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testing &amp; the volcano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238250" y="3937992"/>
            <a:ext cx="95250" cy="9525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795117"/>
            <a:ext cx="8927783" cy="9655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~20k genes → ~1000 false “hits” at p&lt;0.05 → use </a:t>
            </a:r>
            <a:pPr algn="l" indent="0" marL="0">
              <a:lnSpc>
                <a:spcPct val="140000"/>
              </a:lnSpc>
              <a:buNone/>
            </a:pPr>
            <a:r>
              <a:rPr lang="en-US" sz="24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BH FDR (padj)</a:t>
            </a:r>
            <a:endParaRPr lang="en-US" sz="2475" dirty="0"/>
          </a:p>
        </p:txBody>
      </p:sp>
      <p:sp>
        <p:nvSpPr>
          <p:cNvPr id="6" name="Shape 4"/>
          <p:cNvSpPr/>
          <p:nvPr/>
        </p:nvSpPr>
        <p:spPr>
          <a:xfrm>
            <a:off x="1238250" y="5075039"/>
            <a:ext cx="95250" cy="9525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4932164"/>
            <a:ext cx="8927783" cy="9655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 padj threshold </a:t>
            </a:r>
            <a:pPr algn="l" indent="0" marL="0">
              <a:lnSpc>
                <a:spcPct val="140000"/>
              </a:lnSpc>
              <a:buNone/>
            </a:pPr>
            <a:r>
              <a:rPr lang="en-US" sz="24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</a:t>
            </a:r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 size; volcano / MA plots</a:t>
            </a:r>
            <a:endParaRPr lang="en-US" sz="2475" dirty="0"/>
          </a:p>
        </p:txBody>
      </p:sp>
      <p:sp>
        <p:nvSpPr>
          <p:cNvPr id="8" name="Shape 6"/>
          <p:cNvSpPr/>
          <p:nvPr/>
        </p:nvSpPr>
        <p:spPr>
          <a:xfrm>
            <a:off x="1238250" y="6164461"/>
            <a:ext cx="8953500" cy="1304925"/>
          </a:xfrm>
          <a:prstGeom prst="roundRect">
            <a:avLst>
              <a:gd name="adj" fmla="val 116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38250" y="7459861"/>
            <a:ext cx="8953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38250" y="6164461"/>
            <a:ext cx="8953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38250" y="6164461"/>
            <a:ext cx="28575" cy="130492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82225" y="6164461"/>
            <a:ext cx="9525" cy="13049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571625" y="6402586"/>
            <a:ext cx="857440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Significant </a:t>
            </a:r>
            <a:pPr algn="l" indent="0" marL="0">
              <a:buNone/>
            </a:pPr>
            <a:r>
              <a:rPr lang="en-US" sz="24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≠ meaningful </a:t>
            </a:r>
            <a:pPr algn="l" indent="0" marL="0">
              <a:buNone/>
            </a:pPr>
            <a:r>
              <a:rPr lang="en-US" sz="24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(padj 1e-30, log2FC 0.08).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763250" y="2280345"/>
            <a:ext cx="6305550" cy="5353050"/>
          </a:xfrm>
          <a:prstGeom prst="roundRect">
            <a:avLst>
              <a:gd name="adj" fmla="val 2847"/>
            </a:avLst>
          </a:prstGeom>
          <a:solidFill>
            <a:srgbClr val="FFFFFF"/>
          </a:solidFill>
          <a:ln w="9525">
            <a:solidFill>
              <a:srgbClr val="0F1A2E">
                <a:alpha val="12000"/>
              </a:srgbClr>
            </a:solidFill>
            <a:prstDash val="solid"/>
          </a:ln>
          <a:effectLst>
            <a:outerShdw sx="100000" sy="100000" kx="0" ky="0" algn="bl" rotWithShape="0" blurRad="209550" dist="57150" dir="5400000">
              <a:srgbClr val="0F1A2E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448925" y="7766745"/>
            <a:ext cx="691515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spc="27" kern="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Volcano plot — log2 fold-change vs −log10 padj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2000">
                <a:srgbClr val="2DD4BF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537049"/>
            <a:ext cx="17602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spc="552" kern="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3C · PHAGE / METAGENOMICS</a:t>
            </a:r>
            <a:endParaRPr lang="en-US" sz="17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4052888"/>
            <a:ext cx="438150" cy="438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1650" y="3984724"/>
            <a:ext cx="600939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Phage / metagenomics —</a:t>
            </a:r>
            <a:endParaRPr lang="en-US" sz="4050" dirty="0"/>
          </a:p>
        </p:txBody>
      </p:sp>
      <p:sp>
        <p:nvSpPr>
          <p:cNvPr id="6" name="Text 3"/>
          <p:cNvSpPr/>
          <p:nvPr/>
        </p:nvSpPr>
        <p:spPr>
          <a:xfrm>
            <a:off x="7796510" y="3994249"/>
            <a:ext cx="4874657" cy="593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50" b="1" spc="-30" kern="0" dirty="0">
                <a:solidFill>
                  <a:srgbClr val="7C5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branch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1143000" y="5006876"/>
            <a:ext cx="20776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E7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1388864" y="5006876"/>
            <a:ext cx="196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725" dirty="0"/>
          </a:p>
        </p:txBody>
      </p:sp>
      <p:sp>
        <p:nvSpPr>
          <p:cNvPr id="9" name="Shape 6"/>
          <p:cNvSpPr/>
          <p:nvPr/>
        </p:nvSpPr>
        <p:spPr>
          <a:xfrm>
            <a:off x="1623715" y="4930676"/>
            <a:ext cx="2295971" cy="438150"/>
          </a:xfrm>
          <a:prstGeom prst="roundRect">
            <a:avLst>
              <a:gd name="adj" fmla="val 21739"/>
            </a:avLst>
          </a:prstGeom>
          <a:solidFill>
            <a:srgbClr val="A78BFA">
              <a:alpha val="10000"/>
            </a:srgbClr>
          </a:solidFill>
          <a:ln w="9525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85640" y="5006876"/>
            <a:ext cx="2048321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(ASSEMBLE)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4033986" y="5006876"/>
            <a:ext cx="196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725" dirty="0"/>
          </a:p>
        </p:txBody>
      </p:sp>
      <p:sp>
        <p:nvSpPr>
          <p:cNvPr id="12" name="Shape 9"/>
          <p:cNvSpPr/>
          <p:nvPr/>
        </p:nvSpPr>
        <p:spPr>
          <a:xfrm>
            <a:off x="4268837" y="4930676"/>
            <a:ext cx="1451818" cy="438150"/>
          </a:xfrm>
          <a:prstGeom prst="roundRect">
            <a:avLst>
              <a:gd name="adj" fmla="val 21739"/>
            </a:avLst>
          </a:prstGeom>
          <a:solidFill>
            <a:srgbClr val="A78BFA"/>
          </a:solidFill>
          <a:ln w="9525">
            <a:solidFill>
              <a:srgbClr val="A78BFA"/>
            </a:solidFill>
            <a:prstDash val="solid"/>
          </a:ln>
          <a:effectLst>
            <a:outerShdw sx="100000" sy="100000" kx="0" ky="0" algn="bl" rotWithShape="0" blurRad="247650" dist="50800" dir="16200000">
              <a:srgbClr val="A78BFA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468862" y="5025926"/>
            <a:ext cx="1127968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A0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ID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5834955" y="5006876"/>
            <a:ext cx="196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725" dirty="0"/>
          </a:p>
        </p:txBody>
      </p:sp>
      <p:sp>
        <p:nvSpPr>
          <p:cNvPr id="15" name="Shape 12"/>
          <p:cNvSpPr/>
          <p:nvPr/>
        </p:nvSpPr>
        <p:spPr>
          <a:xfrm>
            <a:off x="6069806" y="4930676"/>
            <a:ext cx="1375618" cy="438150"/>
          </a:xfrm>
          <a:prstGeom prst="roundRect">
            <a:avLst>
              <a:gd name="adj" fmla="val 21739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31731" y="5006876"/>
            <a:ext cx="1127968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Taxonomy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559725" y="5006876"/>
            <a:ext cx="196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725" dirty="0"/>
          </a:p>
        </p:txBody>
      </p:sp>
      <p:sp>
        <p:nvSpPr>
          <p:cNvPr id="18" name="Shape 15"/>
          <p:cNvSpPr/>
          <p:nvPr/>
        </p:nvSpPr>
        <p:spPr>
          <a:xfrm>
            <a:off x="7794575" y="4930676"/>
            <a:ext cx="1638598" cy="438150"/>
          </a:xfrm>
          <a:prstGeom prst="roundRect">
            <a:avLst>
              <a:gd name="adj" fmla="val 21739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6500" y="5006876"/>
            <a:ext cx="1390948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</a:t>
            </a:r>
            <a:endParaRPr lang="en-US" sz="1725" dirty="0"/>
          </a:p>
        </p:txBody>
      </p:sp>
      <p:sp>
        <p:nvSpPr>
          <p:cNvPr id="20" name="Shape 17"/>
          <p:cNvSpPr/>
          <p:nvPr/>
        </p:nvSpPr>
        <p:spPr>
          <a:xfrm>
            <a:off x="1143000" y="5806976"/>
            <a:ext cx="15411450" cy="942975"/>
          </a:xfrm>
          <a:prstGeom prst="roundRect">
            <a:avLst>
              <a:gd name="adj" fmla="val 16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43000" y="6740426"/>
            <a:ext cx="1541145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43000" y="5806976"/>
            <a:ext cx="1541145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143000" y="5806976"/>
            <a:ext cx="28575" cy="942975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Shape 21"/>
          <p:cNvSpPr/>
          <p:nvPr/>
        </p:nvSpPr>
        <p:spPr>
          <a:xfrm>
            <a:off x="16544925" y="5806976"/>
            <a:ext cx="9525" cy="94297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1476375" y="6064151"/>
            <a:ext cx="1522609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Novel, uncultured genomes; </a:t>
            </a:r>
            <a:pPr algn="l" indent="0" marL="0">
              <a:buNone/>
            </a:pPr>
            <a:r>
              <a:rPr lang="en-US" sz="2475" b="1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single reference</a:t>
            </a:r>
            <a:pPr algn="l" indent="0" marL="0">
              <a:buNone/>
            </a:pPr>
            <a:r>
              <a:rPr lang="en-US" sz="247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Lean: virome / phage.</a:t>
            </a:r>
            <a:endParaRPr lang="en-US" sz="247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882330"/>
            <a:ext cx="1739265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removal → assembly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5051971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1533525" y="4899571"/>
            <a:ext cx="858271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62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 </a:t>
            </a:r>
            <a:pPr algn="l" indent="0" marL="0">
              <a:lnSpc>
                <a:spcPct val="140000"/>
              </a:lnSpc>
              <a:buNone/>
            </a:pPr>
            <a:r>
              <a:rPr lang="en-US" sz="262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/ PhiX </a:t>
            </a:r>
            <a:pPr algn="l" indent="0" marL="0">
              <a:lnSpc>
                <a:spcPct val="140000"/>
              </a:lnSpc>
              <a:buNone/>
            </a:pPr>
            <a:r>
              <a:rPr lang="en-US" sz="262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reads (keep non-host)</a:t>
            </a:r>
            <a:endParaRPr lang="en-US" sz="2625" dirty="0"/>
          </a:p>
        </p:txBody>
      </p:sp>
      <p:sp>
        <p:nvSpPr>
          <p:cNvPr id="6" name="Shape 4"/>
          <p:cNvSpPr/>
          <p:nvPr/>
        </p:nvSpPr>
        <p:spPr>
          <a:xfrm>
            <a:off x="1238250" y="5756821"/>
            <a:ext cx="2171998" cy="647700"/>
          </a:xfrm>
          <a:prstGeom prst="roundRect">
            <a:avLst>
              <a:gd name="adj" fmla="val 17647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5425" y="5899696"/>
            <a:ext cx="173384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metaSPAdes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3562648" y="5756821"/>
            <a:ext cx="1674763" cy="647700"/>
          </a:xfrm>
          <a:prstGeom prst="roundRect">
            <a:avLst>
              <a:gd name="adj" fmla="val 17647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19823" y="5899696"/>
            <a:ext cx="123661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MEGAHIT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5389811" y="5756821"/>
            <a:ext cx="2337792" cy="647700"/>
          </a:xfrm>
          <a:prstGeom prst="roundRect">
            <a:avLst>
              <a:gd name="adj" fmla="val 17647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46986" y="5899696"/>
            <a:ext cx="189964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Flye --meta</a:t>
            </a:r>
            <a:endParaRPr lang="en-US" sz="217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762524"/>
            <a:ext cx="1739265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 identification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4819352"/>
            <a:ext cx="1947118" cy="771525"/>
          </a:xfrm>
          <a:prstGeom prst="roundRect">
            <a:avLst>
              <a:gd name="adj" fmla="val 17284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1625" y="5000327"/>
            <a:ext cx="135656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geNomad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394918" y="4819352"/>
            <a:ext cx="2495848" cy="771525"/>
          </a:xfrm>
          <a:prstGeom prst="roundRect">
            <a:avLst>
              <a:gd name="adj" fmla="val 17284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28293" y="5000327"/>
            <a:ext cx="190529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VirSorter2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8250" y="5990927"/>
            <a:ext cx="1520666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contigs for </a:t>
            </a:r>
            <a:pPr algn="l" indent="0" marL="0">
              <a:lnSpc>
                <a:spcPct val="150000"/>
              </a:lnSpc>
              <a:buNone/>
            </a:pPr>
            <a:r>
              <a:rPr lang="en-US" sz="255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signal</a:t>
            </a:r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find proviruses in the contig pile.</a:t>
            </a:r>
            <a:endParaRPr lang="en-US" sz="25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2000">
                <a:srgbClr val="2DD4BF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707755"/>
            <a:ext cx="1739265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CheckV: how good is each viral genome?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238250" y="4683770"/>
            <a:ext cx="2434977" cy="638175"/>
          </a:xfrm>
          <a:prstGeom prst="roundRect">
            <a:avLst>
              <a:gd name="adj" fmla="val 17910"/>
            </a:avLst>
          </a:prstGeom>
          <a:solidFill>
            <a:srgbClr val="2DD4BF">
              <a:alpha val="8000"/>
            </a:srgbClr>
          </a:solidFill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95425" y="4826645"/>
            <a:ext cx="199682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Completeness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825627" y="4683770"/>
            <a:ext cx="2594967" cy="638175"/>
          </a:xfrm>
          <a:prstGeom prst="roundRect">
            <a:avLst>
              <a:gd name="adj" fmla="val 17910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82802" y="4826645"/>
            <a:ext cx="215846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Contamination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72994" y="4683770"/>
            <a:ext cx="3235226" cy="638175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30169" y="4826645"/>
            <a:ext cx="281793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Provirus trimming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38250" y="5683895"/>
            <a:ext cx="158115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38250" y="6569720"/>
            <a:ext cx="15811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38250" y="5683895"/>
            <a:ext cx="15811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38250" y="5683895"/>
            <a:ext cx="28575" cy="89535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Shape 12"/>
          <p:cNvSpPr/>
          <p:nvPr/>
        </p:nvSpPr>
        <p:spPr>
          <a:xfrm>
            <a:off x="17040225" y="5683895"/>
            <a:ext cx="9525" cy="895350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571625" y="5922020"/>
            <a:ext cx="1563814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18% contamination ≈ host DNA flanking an integrated </a:t>
            </a:r>
            <a:pPr algn="l" indent="0" marL="0">
              <a:buNone/>
            </a:pPr>
            <a:r>
              <a:rPr lang="en-US" sz="2400" b="1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prophage</a:t>
            </a:r>
            <a:pPr algn="l" indent="0" marL="0">
              <a:buNone/>
            </a:pPr>
            <a:r>
              <a:rPr lang="en-US" sz="2400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048893"/>
            <a:ext cx="984885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Taxonomy: Kraken2 + Bracken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4066133"/>
            <a:ext cx="3881438" cy="676275"/>
          </a:xfrm>
          <a:prstGeom prst="roundRect">
            <a:avLst>
              <a:gd name="adj" fmla="val 16901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14475" y="4228058"/>
            <a:ext cx="34454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C5CD6"/>
                </a:solidFill>
                <a:highlight>
                  <a:srgbClr val="F8F6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Kraken2 </a:t>
            </a:r>
            <a:pPr algn="l" indent="0" marL="0">
              <a:buNone/>
            </a:pPr>
            <a:r>
              <a:rPr lang="en-US" sz="168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classifies reads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310188" y="4189958"/>
            <a:ext cx="25434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238250" y="4932908"/>
            <a:ext cx="4649688" cy="676275"/>
          </a:xfrm>
          <a:prstGeom prst="roundRect">
            <a:avLst>
              <a:gd name="adj" fmla="val 16901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14475" y="5094833"/>
            <a:ext cx="42367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C5CD6"/>
                </a:solidFill>
                <a:highlight>
                  <a:srgbClr val="F8F6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Bracken </a:t>
            </a:r>
            <a:pPr algn="l" indent="0" marL="0">
              <a:buNone/>
            </a:pPr>
            <a:r>
              <a:rPr lang="en-US" sz="168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re-estimates abundance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238250" y="5990183"/>
            <a:ext cx="8953500" cy="1247775"/>
          </a:xfrm>
          <a:prstGeom prst="roundRect">
            <a:avLst>
              <a:gd name="adj" fmla="val 122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38250" y="7228433"/>
            <a:ext cx="8953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38250" y="5990183"/>
            <a:ext cx="8953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38250" y="5990183"/>
            <a:ext cx="28575" cy="1247775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82225" y="5990183"/>
            <a:ext cx="9525" cy="124777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571625" y="6228308"/>
            <a:ext cx="857440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caveat: </a:t>
            </a:r>
            <a:pPr algn="l" indent="0" marL="0">
              <a:buNone/>
            </a:pPr>
            <a:r>
              <a:rPr lang="en-US" sz="2325" b="1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 phages = unclassified </a:t>
            </a:r>
            <a:pPr algn="l" indent="0" marL="0">
              <a:buNone/>
            </a:pPr>
            <a:r>
              <a:rPr lang="en-US" sz="232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that’s the interesting bit.</a:t>
            </a:r>
            <a:endParaRPr lang="en-US" sz="2325" dirty="0"/>
          </a:p>
        </p:txBody>
      </p:sp>
      <p:sp>
        <p:nvSpPr>
          <p:cNvPr id="15" name="Shape 13"/>
          <p:cNvSpPr/>
          <p:nvPr/>
        </p:nvSpPr>
        <p:spPr>
          <a:xfrm>
            <a:off x="10763250" y="2375595"/>
            <a:ext cx="6305550" cy="5162550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 w="9525">
            <a:solidFill>
              <a:srgbClr val="0F1A2E">
                <a:alpha val="12000"/>
              </a:srgbClr>
            </a:solidFill>
            <a:prstDash val="solid"/>
          </a:ln>
          <a:effectLst>
            <a:outerShdw sx="100000" sy="100000" kx="0" ky="0" algn="bl" rotWithShape="0" blurRad="209550" dist="57150" dir="5400000">
              <a:srgbClr val="0F1A2E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448925" y="7671495"/>
            <a:ext cx="691515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spc="27" kern="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Krona — taxonomic composition of the sample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376613"/>
            <a:ext cx="942975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Phage annotation: Pharokka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4546253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1533525" y="4393853"/>
            <a:ext cx="8525542" cy="992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PHANOTATE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 calling +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PHROGs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DB; phage-tuned; genome map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238250" y="5671989"/>
            <a:ext cx="857250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8250" y="6900714"/>
            <a:ext cx="8572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38250" y="5671989"/>
            <a:ext cx="8572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38250" y="5671989"/>
            <a:ext cx="28575" cy="123825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Shape 8"/>
          <p:cNvSpPr/>
          <p:nvPr/>
        </p:nvSpPr>
        <p:spPr>
          <a:xfrm>
            <a:off x="9801225" y="5671989"/>
            <a:ext cx="9525" cy="1238250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571625" y="5910114"/>
            <a:ext cx="818197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273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Prokka / Bakta = general bacterial — more “hypothetical protein”.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10382250" y="2375595"/>
            <a:ext cx="6686550" cy="5162550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 w="9525">
            <a:solidFill>
              <a:srgbClr val="0F1A2E">
                <a:alpha val="12000"/>
              </a:srgbClr>
            </a:solidFill>
            <a:prstDash val="solid"/>
          </a:ln>
          <a:effectLst>
            <a:outerShdw sx="100000" sy="100000" kx="0" ky="0" algn="bl" rotWithShape="0" blurRad="209550" dist="57150" dir="5400000">
              <a:srgbClr val="0F1A2E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48875" y="7671495"/>
            <a:ext cx="733425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spc="27" kern="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Pharokka — annotated phage genome map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2000">
                <a:srgbClr val="2DD4BF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487936"/>
            <a:ext cx="17602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spc="552" kern="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4 · INTERPRETATION</a:t>
            </a:r>
            <a:endParaRPr lang="en-US" sz="17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4024313"/>
            <a:ext cx="438150" cy="438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1650" y="3926086"/>
            <a:ext cx="6192576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&amp; reporting</a:t>
            </a:r>
            <a:endParaRPr lang="en-US" sz="4350" dirty="0"/>
          </a:p>
        </p:txBody>
      </p:sp>
      <p:sp>
        <p:nvSpPr>
          <p:cNvPr id="6" name="Shape 3"/>
          <p:cNvSpPr/>
          <p:nvPr/>
        </p:nvSpPr>
        <p:spPr>
          <a:xfrm>
            <a:off x="1143000" y="4922639"/>
            <a:ext cx="1752898" cy="466725"/>
          </a:xfrm>
          <a:prstGeom prst="roundRect">
            <a:avLst>
              <a:gd name="adj" fmla="val 20408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04925" y="4998839"/>
            <a:ext cx="1505248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Downstream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3010198" y="4998839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9" name="Shape 6"/>
          <p:cNvSpPr/>
          <p:nvPr/>
        </p:nvSpPr>
        <p:spPr>
          <a:xfrm>
            <a:off x="3255466" y="4922639"/>
            <a:ext cx="2972246" cy="466725"/>
          </a:xfrm>
          <a:prstGeom prst="roundRect">
            <a:avLst>
              <a:gd name="adj" fmla="val 20408"/>
            </a:avLst>
          </a:prstGeom>
          <a:solidFill>
            <a:srgbClr val="2DD4BF"/>
          </a:solidFill>
          <a:ln w="9525">
            <a:solidFill>
              <a:srgbClr val="2DD4BF"/>
            </a:solidFill>
            <a:prstDash val="solid"/>
          </a:ln>
          <a:effectLst>
            <a:outerShdw sx="100000" sy="100000" kx="0" ky="0" algn="bl" rotWithShape="0" blurRad="247650" dist="50800" dir="16200000">
              <a:srgbClr val="2DD4BF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55491" y="5017889"/>
            <a:ext cx="2661364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7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 &amp; REPORT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6342013" y="4998839"/>
            <a:ext cx="207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75" dirty="0"/>
          </a:p>
        </p:txBody>
      </p:sp>
      <p:sp>
        <p:nvSpPr>
          <p:cNvPr id="12" name="Shape 9"/>
          <p:cNvSpPr/>
          <p:nvPr/>
        </p:nvSpPr>
        <p:spPr>
          <a:xfrm>
            <a:off x="6587282" y="4922639"/>
            <a:ext cx="2467421" cy="466725"/>
          </a:xfrm>
          <a:prstGeom prst="roundRect">
            <a:avLst>
              <a:gd name="adj" fmla="val 20408"/>
            </a:avLst>
          </a:prstGeom>
          <a:solidFill>
            <a:srgbClr val="0F1A2E">
              <a:alpha val="3000"/>
            </a:srgbClr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49207" y="4998839"/>
            <a:ext cx="2219771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Reproducibility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1143000" y="5827514"/>
            <a:ext cx="1493520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143000" y="6789539"/>
            <a:ext cx="149352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143000" y="5827514"/>
            <a:ext cx="149352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143000" y="5827514"/>
            <a:ext cx="28575" cy="9715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Shape 15"/>
          <p:cNvSpPr/>
          <p:nvPr/>
        </p:nvSpPr>
        <p:spPr>
          <a:xfrm>
            <a:off x="16068675" y="5827514"/>
            <a:ext cx="9525" cy="971550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476375" y="6084689"/>
            <a:ext cx="1473555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2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→ </a:t>
            </a:r>
            <a:pPr algn="l" indent="0" marL="0">
              <a:buNone/>
            </a:pPr>
            <a:r>
              <a:rPr lang="en-US" sz="262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defensible biological claims</a:t>
            </a:r>
            <a:pPr algn="l" indent="0" marL="0">
              <a:buNone/>
            </a:pPr>
            <a:r>
              <a:rPr lang="en-US" sz="262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Visualize </a:t>
            </a:r>
            <a:pPr algn="l" indent="0" marL="0">
              <a:buNone/>
            </a:pPr>
            <a:r>
              <a:rPr lang="en-US" sz="262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</a:t>
            </a:r>
            <a:pPr algn="l" indent="0" marL="0">
              <a:buNone/>
            </a:pPr>
            <a:r>
              <a:rPr lang="en-US" sz="262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believe.</a:t>
            </a:r>
            <a:endParaRPr lang="en-US" sz="26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401913"/>
            <a:ext cx="1739265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 &amp; stats per domain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4419154"/>
            <a:ext cx="5130701" cy="1632347"/>
          </a:xfrm>
          <a:prstGeom prst="roundRect">
            <a:avLst>
              <a:gd name="adj" fmla="val 9336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14475" y="4695379"/>
            <a:ext cx="503607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IGV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14475" y="5162104"/>
            <a:ext cx="4715598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Variants — strand / end / homopolymer artifacts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6578501" y="4419154"/>
            <a:ext cx="5130850" cy="1632347"/>
          </a:xfrm>
          <a:prstGeom prst="roundRect">
            <a:avLst>
              <a:gd name="adj" fmla="val 9336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4726" y="4695379"/>
            <a:ext cx="50362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E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Volcano / MA / PCA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854726" y="5162104"/>
            <a:ext cx="5036240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RNA-seq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1918900" y="4419154"/>
            <a:ext cx="5130850" cy="1632347"/>
          </a:xfrm>
          <a:prstGeom prst="roundRect">
            <a:avLst>
              <a:gd name="adj" fmla="val 9336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95125" y="4695379"/>
            <a:ext cx="50362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Genome maps / Krona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195125" y="5162104"/>
            <a:ext cx="5036240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Phage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238250" y="6432500"/>
            <a:ext cx="1624012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 size + significance; multiple testing everywhere;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differential ≠ functional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2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337471"/>
            <a:ext cx="1739265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good report contains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4459486"/>
            <a:ext cx="85725" cy="85725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1476375" y="4335661"/>
            <a:ext cx="3099867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/ design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334500" y="4459486"/>
            <a:ext cx="85725" cy="85725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9572625" y="4335661"/>
            <a:ext cx="3829199" cy="439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 WITH versions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1238250" y="5032325"/>
            <a:ext cx="85725" cy="85725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1476375" y="4908500"/>
            <a:ext cx="1823412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summary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9334500" y="5032325"/>
            <a:ext cx="85725" cy="85725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9572625" y="4908500"/>
            <a:ext cx="4376321" cy="439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</a:t>
            </a:r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uncertainty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1238250" y="5605165"/>
            <a:ext cx="85725" cy="85725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1476375" y="5481340"/>
            <a:ext cx="4011573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Bounded interpretation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9334500" y="5605165"/>
            <a:ext cx="85725" cy="85725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9572625" y="5481340"/>
            <a:ext cx="4376157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Reproducibility pointers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1238250" y="6178004"/>
            <a:ext cx="15811500" cy="771525"/>
          </a:xfrm>
          <a:prstGeom prst="roundRect">
            <a:avLst>
              <a:gd name="adj" fmla="val 197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38250" y="6940004"/>
            <a:ext cx="15811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38250" y="6178004"/>
            <a:ext cx="158115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238250" y="6178004"/>
            <a:ext cx="28575" cy="77152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0" name="Shape 18"/>
          <p:cNvSpPr/>
          <p:nvPr/>
        </p:nvSpPr>
        <p:spPr>
          <a:xfrm>
            <a:off x="17040225" y="6178004"/>
            <a:ext cx="9525" cy="771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552575" y="6397079"/>
            <a:ext cx="156762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63" dirty="0">
                <a:solidFill>
                  <a:srgbClr val="C03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“BWA-MEM” </a:t>
            </a:r>
            <a:pPr algn="l" indent="0" marL="0">
              <a:buNone/>
            </a:pPr>
            <a:r>
              <a:rPr lang="en-US" sz="202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≠ reproducible; </a:t>
            </a:r>
            <a:pPr algn="l" indent="0" marL="0">
              <a:buNone/>
            </a:pPr>
            <a:r>
              <a:rPr lang="en-US" sz="1863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“BWA-MEM 0.7.17, GRCh38, default params” </a:t>
            </a:r>
            <a:pPr algn="l" indent="0" marL="0">
              <a:buNone/>
            </a:pPr>
            <a:r>
              <a:rPr lang="en-US" sz="202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is.</a:t>
            </a:r>
            <a:endParaRPr lang="en-US" sz="20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2285702"/>
            <a:ext cx="17602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spc="552" kern="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5 · REPRODUCIBILITY</a:t>
            </a:r>
            <a:endParaRPr lang="en-US" sz="17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792016"/>
            <a:ext cx="419100" cy="419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2600" y="2714327"/>
            <a:ext cx="750093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5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 wraps everything</a:t>
            </a:r>
            <a:endParaRPr lang="en-US" sz="4050" dirty="0"/>
          </a:p>
        </p:txBody>
      </p:sp>
      <p:sp>
        <p:nvSpPr>
          <p:cNvPr id="6" name="Text 3"/>
          <p:cNvSpPr/>
          <p:nvPr/>
        </p:nvSpPr>
        <p:spPr>
          <a:xfrm>
            <a:off x="1143000" y="3507879"/>
            <a:ext cx="16764000" cy="453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a workflow manager: </a:t>
            </a:r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 · parallelism · portability · reproducibility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143000" y="4208859"/>
            <a:ext cx="7886700" cy="2072283"/>
          </a:xfrm>
          <a:prstGeom prst="roundRect">
            <a:avLst>
              <a:gd name="adj" fmla="val 7354"/>
            </a:avLst>
          </a:prstGeom>
          <a:solidFill>
            <a:srgbClr val="2DD4BF">
              <a:alpha val="6000"/>
            </a:srgbClr>
          </a:solidFill>
          <a:ln w="9525">
            <a:solidFill>
              <a:srgbClr val="2DD4BF">
                <a:alpha val="2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57325" y="4485084"/>
            <a:ext cx="79838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E9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Nextflow + nf-core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457325" y="4942284"/>
            <a:ext cx="7475792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sarek = 3a rnaseq = 3b mag = 3c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258300" y="4208859"/>
            <a:ext cx="7886700" cy="2072283"/>
          </a:xfrm>
          <a:prstGeom prst="roundRect">
            <a:avLst>
              <a:gd name="adj" fmla="val 7354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72625" y="4485084"/>
            <a:ext cx="79838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A4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Snakemake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9572625" y="4942284"/>
            <a:ext cx="798385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47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Pythonic, file rules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6547842"/>
            <a:ext cx="16764000" cy="453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/ mamba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(pin versions!) + </a:t>
            </a:r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(Docker / Singularity / Apptainer)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143000" y="7191673"/>
            <a:ext cx="16002000" cy="809625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143000" y="7991773"/>
            <a:ext cx="160020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143000" y="7191673"/>
            <a:ext cx="1600200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143000" y="7191673"/>
            <a:ext cx="28575" cy="80962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Shape 15"/>
          <p:cNvSpPr/>
          <p:nvPr/>
        </p:nvSpPr>
        <p:spPr>
          <a:xfrm>
            <a:off x="17135475" y="7191673"/>
            <a:ext cx="9525" cy="8096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457325" y="7410748"/>
            <a:ext cx="158724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you did by hand, </a:t>
            </a:r>
            <a:pPr algn="l" indent="0" marL="0">
              <a:buNone/>
            </a:pPr>
            <a:r>
              <a:rPr lang="en-US" sz="21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nf-core runs for you </a:t>
            </a:r>
            <a:pPr algn="l" indent="0" marL="0">
              <a:buNone/>
            </a:pPr>
            <a:r>
              <a:rPr lang="en-US" sz="217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now you can trust / configure / debug it.</a:t>
            </a:r>
            <a:endParaRPr lang="en-US" sz="217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1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472755"/>
            <a:ext cx="1739265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30" kern="0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&amp; close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4470946"/>
            <a:ext cx="3002756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76375" y="4613821"/>
            <a:ext cx="261658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 logging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374356" y="4470946"/>
            <a:ext cx="1219349" cy="609600"/>
          </a:xfrm>
          <a:prstGeom prst="roundRect">
            <a:avLst>
              <a:gd name="adj" fmla="val 18750"/>
            </a:avLst>
          </a:prstGeom>
          <a:solidFill>
            <a:srgbClr val="2DD4BF">
              <a:alpha val="8000"/>
            </a:srgbClr>
          </a:solidFill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2481" y="4613821"/>
            <a:ext cx="8192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727055" y="4470946"/>
            <a:ext cx="2259657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65180" y="4613821"/>
            <a:ext cx="185960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for code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8120063" y="4470946"/>
            <a:ext cx="4340275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8188" y="4613821"/>
            <a:ext cx="39942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4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in SRA / ENA / Zenodo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38250" y="5442496"/>
            <a:ext cx="15449550" cy="1371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5400000">
              <a:srgbClr val="0F1A2E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38250" y="6804571"/>
            <a:ext cx="1544955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238250" y="5442496"/>
            <a:ext cx="15449550" cy="9525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38250" y="5442496"/>
            <a:ext cx="28575" cy="13716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Shape 14"/>
          <p:cNvSpPr/>
          <p:nvPr/>
        </p:nvSpPr>
        <p:spPr>
          <a:xfrm>
            <a:off x="16678275" y="5442496"/>
            <a:ext cx="9525" cy="1371600"/>
          </a:xfrm>
          <a:prstGeom prst="rect">
            <a:avLst/>
          </a:prstGeom>
          <a:solidFill>
            <a:srgbClr val="0F1A2E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590675" y="5699671"/>
            <a:ext cx="1522723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reproducibility test: could you (or someone) </a:t>
            </a:r>
            <a:pPr algn="l" indent="0" marL="0">
              <a:buNone/>
            </a:pPr>
            <a:r>
              <a:rPr lang="en-US" sz="2475" b="1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regenerate these exact results in 2 years? </a:t>
            </a:r>
            <a:pPr algn="l" indent="0" marL="0">
              <a:buNone/>
            </a:pPr>
            <a:r>
              <a:rPr lang="en-US" sz="2475" dirty="0">
                <a:solidFill>
                  <a:srgbClr val="27324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pinned versions make the answer yes.</a:t>
            </a:r>
            <a:endParaRPr lang="en-US" sz="247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4000"/>
                </a:srgbClr>
              </a:gs>
              <a:gs pos="60000">
                <a:srgbClr val="2DD4BF">
                  <a:alpha val="0"/>
                </a:srgbClr>
              </a:gs>
            </a:gsLst>
            <a:path path="circle">
              <a:fillToRect l="8000" t="0" r="92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343275"/>
            <a:ext cx="173926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SKELETON · MANY INSTANCES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3914775"/>
            <a:ext cx="173926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spc="-112" kern="0" dirty="0">
                <a:gradFill rotWithShape="1">
                  <a:gsLst>
                    <a:gs pos="0">
                      <a:srgbClr val="22D3EE">
                        <a:alpha val="100000"/>
                      </a:srgbClr>
                    </a:gs>
                    <a:gs pos="32000">
                      <a:srgbClr val="2DD4BF">
                        <a:alpha val="100000"/>
                      </a:srgbClr>
                    </a:gs>
                    <a:gs pos="96000">
                      <a:srgbClr val="A78BFA">
                        <a:alpha val="100000"/>
                      </a:srgbClr>
                    </a:gs>
                  </a:gsLst>
                  <a:lin ang="3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238250" y="5343525"/>
            <a:ext cx="1519237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64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the hands-on lab — align + call on </a:t>
            </a:r>
            <a:pPr algn="l" indent="0" marL="0">
              <a:lnSpc>
                <a:spcPct val="125000"/>
              </a:lnSpc>
              <a:buNone/>
            </a:pPr>
            <a:r>
              <a:rPr lang="en-US" sz="3000" i="1" dirty="0">
                <a:solidFill>
                  <a:srgbClr val="7C5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coli</a:t>
            </a:r>
            <a:pPr algn="l"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64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assemble + identify on a phage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238250" y="6305550"/>
            <a:ext cx="3086695" cy="638175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5425" y="6467475"/>
            <a:ext cx="266494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A4762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 </a:t>
            </a:r>
            <a:pPr algn="l" indent="0" marL="0">
              <a:buNone/>
            </a:pPr>
            <a:r>
              <a:rPr lang="en-US" sz="1875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notes/00–05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4496395" y="6305550"/>
            <a:ext cx="4086969" cy="638175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3570" y="6467475"/>
            <a:ext cx="369522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A4762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</a:t>
            </a:r>
            <a:pPr algn="l" indent="0" marL="0">
              <a:buNone/>
            </a:pPr>
            <a:r>
              <a:rPr lang="en-US" sz="1875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hands-on/tutorial.md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8754814" y="6305550"/>
            <a:ext cx="4658469" cy="638175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9525">
            <a:solidFill>
              <a:srgbClr val="0F1A2E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11989" y="6467475"/>
            <a:ext cx="42838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A4762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Refs </a:t>
            </a:r>
            <a:pPr algn="l" indent="0" marL="0">
              <a:buNone/>
            </a:pPr>
            <a:r>
              <a:rPr lang="en-US" sz="1875" dirty="0">
                <a:solidFill>
                  <a:srgbClr val="0E9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resources/references.md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2026-06-26T18:43:44Z</dcterms:created>
  <dcterms:modified xsi:type="dcterms:W3CDTF">2026-06-26T18:43:44Z</dcterms:modified>
</cp:coreProperties>
</file>